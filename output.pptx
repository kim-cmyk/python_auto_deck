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640080" y="320040"/>
            <a:ext cx="415076" cy="365760"/>
          </a:xfrm>
          <a:prstGeom prst="rect">
            <a:avLst/>
          </a:prstGeom>
        </p:spPr>
      </p:pic>
      <p:sp>
        <p:nvSpPr>
          <p:cNvPr id="4" name="TextBox 3"/>
          <p:cNvSpPr txBox="1"/>
          <p:nvPr/>
        </p:nvSpPr>
        <p:spPr>
          <a:xfrm>
            <a:off x="914400" y="2377440"/>
            <a:ext cx="10637215" cy="1463040"/>
          </a:xfrm>
          <a:prstGeom prst="rect">
            <a:avLst/>
          </a:prstGeom>
          <a:noFill/>
        </p:spPr>
        <p:txBody>
          <a:bodyPr wrap="square" anchor="b" lIns="45720" rIns="45720" tIns="27432" bIns="27432">
            <a:spAutoFit/>
          </a:bodyPr>
          <a:lstStyle/>
          <a:p>
            <a:r>
              <a:rPr sz="4600" b="1" i="0">
                <a:solidFill>
                  <a:srgbClr val="1F3864"/>
                </a:solidFill>
                <a:latin typeface="Calibri Light"/>
              </a:rPr>
              <a:t>Scientific Discovery</a:t>
            </a:r>
          </a:p>
        </p:txBody>
      </p:sp>
      <p:sp>
        <p:nvSpPr>
          <p:cNvPr id="5" name="TextBox 4"/>
          <p:cNvSpPr txBox="1"/>
          <p:nvPr/>
        </p:nvSpPr>
        <p:spPr>
          <a:xfrm>
            <a:off x="914400" y="3977639"/>
            <a:ext cx="10637215" cy="914400"/>
          </a:xfrm>
          <a:prstGeom prst="rect">
            <a:avLst/>
          </a:prstGeom>
          <a:noFill/>
        </p:spPr>
        <p:txBody>
          <a:bodyPr wrap="square" anchor="t" lIns="45720" rIns="45720" tIns="27432" bIns="27432">
            <a:spAutoFit/>
          </a:bodyPr>
          <a:lstStyle/>
          <a:p>
            <a:r>
              <a:rPr sz="2200" b="0" i="0">
                <a:solidFill>
                  <a:srgbClr val="2E5496"/>
                </a:solidFill>
                <a:latin typeface="Calibri"/>
              </a:rPr>
              <a:t>Molecular biology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640080" y="320040"/>
            <a:ext cx="415076" cy="365760"/>
          </a:xfrm>
          <a:prstGeom prst="rect">
            <a:avLst/>
          </a:prstGeom>
        </p:spPr>
      </p:pic>
      <p:sp>
        <p:nvSpPr>
          <p:cNvPr id="3" name="TextBox 2"/>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1F3864"/>
                </a:solidFill>
                <a:latin typeface="Calibri Light"/>
              </a:rPr>
              <a:t>Agenda</a:t>
            </a:r>
          </a:p>
        </p:txBody>
      </p:sp>
      <p:sp>
        <p:nvSpPr>
          <p:cNvPr id="4" name="Rectangle 3"/>
          <p:cNvSpPr/>
          <p:nvPr/>
        </p:nvSpPr>
        <p:spPr>
          <a:xfrm>
            <a:off x="640080" y="1435608"/>
            <a:ext cx="219456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911535" cy="4754879"/>
          </a:xfrm>
          <a:prstGeom prst="rect">
            <a:avLst/>
          </a:prstGeom>
          <a:noFill/>
        </p:spPr>
        <p:txBody>
          <a:bodyPr wrap="square" anchor="t" lIns="45720" rIns="45720" tIns="27432" bIns="27432">
            <a:spAutoFit/>
          </a:bodyPr>
          <a:lstStyle/>
          <a:p>
            <a:pPr>
              <a:lnSpc>
                <a:spcPct val="110000"/>
              </a:lnSpc>
              <a:spcAft>
                <a:spcPts val="600"/>
              </a:spcAft>
            </a:pPr>
            <a:r>
              <a:rPr sz="1800" b="0" i="0">
                <a:solidFill>
                  <a:srgbClr val="333333"/>
                </a:solidFill>
                <a:latin typeface="Calibri"/>
              </a:rPr>
              <a:t>•  About us</a:t>
            </a:r>
          </a:p>
          <a:p>
            <a:pPr>
              <a:lnSpc>
                <a:spcPct val="110000"/>
              </a:lnSpc>
              <a:spcAft>
                <a:spcPts val="600"/>
              </a:spcAft>
            </a:pPr>
            <a:r>
              <a:rPr sz="1800" b="0" i="0">
                <a:solidFill>
                  <a:srgbClr val="333333"/>
                </a:solidFill>
                <a:latin typeface="Calibri"/>
              </a:rPr>
              <a:t>•  Product overview</a:t>
            </a:r>
          </a:p>
          <a:p>
            <a:pPr>
              <a:lnSpc>
                <a:spcPct val="110000"/>
              </a:lnSpc>
              <a:spcAft>
                <a:spcPts val="600"/>
              </a:spcAft>
            </a:pPr>
            <a:r>
              <a:rPr sz="1800" b="0" i="0">
                <a:solidFill>
                  <a:srgbClr val="333333"/>
                </a:solidFill>
                <a:latin typeface="Calibri"/>
              </a:rPr>
              <a:t>•  History of molecular biology</a:t>
            </a:r>
          </a:p>
          <a:p>
            <a:pPr>
              <a:lnSpc>
                <a:spcPct val="110000"/>
              </a:lnSpc>
              <a:spcAft>
                <a:spcPts val="600"/>
              </a:spcAft>
            </a:pPr>
            <a:r>
              <a:rPr sz="1800" b="0" i="0">
                <a:solidFill>
                  <a:srgbClr val="333333"/>
                </a:solidFill>
                <a:latin typeface="Calibri"/>
              </a:rPr>
              <a:t>•  Growth strategy</a:t>
            </a:r>
          </a:p>
          <a:p>
            <a:pPr>
              <a:lnSpc>
                <a:spcPct val="110000"/>
              </a:lnSpc>
              <a:spcAft>
                <a:spcPts val="600"/>
              </a:spcAft>
            </a:pPr>
            <a:r>
              <a:rPr sz="1800" b="0" i="0">
                <a:solidFill>
                  <a:srgbClr val="333333"/>
                </a:solidFill>
                <a:latin typeface="Calibri"/>
              </a:rPr>
              <a:t>•  Financials</a:t>
            </a:r>
          </a:p>
          <a:p>
            <a:pPr>
              <a:lnSpc>
                <a:spcPct val="110000"/>
              </a:lnSpc>
              <a:spcAft>
                <a:spcPts val="600"/>
              </a:spcAft>
            </a:pPr>
            <a:r>
              <a:rPr sz="1800" b="0" i="0">
                <a:solidFill>
                  <a:srgbClr val="333333"/>
                </a:solidFill>
                <a:latin typeface="Calibri"/>
              </a:rPr>
              <a:t>•  Summary</a:t>
            </a:r>
          </a:p>
        </p:txBody>
      </p:sp>
      <p:sp>
        <p:nvSpPr>
          <p:cNvPr id="6" name="TextBox 5"/>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Calibri"/>
              </a:rPr>
              <a:t>Scientific Discovery : Molecular biology</a:t>
            </a:r>
          </a:p>
        </p:txBody>
      </p:sp>
      <p:sp>
        <p:nvSpPr>
          <p:cNvPr id="7" name="TextBox 6"/>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640080" y="320040"/>
            <a:ext cx="415076" cy="365760"/>
          </a:xfrm>
          <a:prstGeom prst="rect">
            <a:avLst/>
          </a:prstGeom>
        </p:spPr>
      </p:pic>
      <p:sp>
        <p:nvSpPr>
          <p:cNvPr id="3" name="TextBox 2"/>
          <p:cNvSpPr txBox="1"/>
          <p:nvPr/>
        </p:nvSpPr>
        <p:spPr>
          <a:xfrm>
            <a:off x="640080" y="2651760"/>
            <a:ext cx="10911535" cy="1188720"/>
          </a:xfrm>
          <a:prstGeom prst="rect">
            <a:avLst/>
          </a:prstGeom>
          <a:noFill/>
        </p:spPr>
        <p:txBody>
          <a:bodyPr wrap="square" anchor="b" lIns="45720" rIns="45720" tIns="27432" bIns="27432">
            <a:spAutoFit/>
          </a:bodyPr>
          <a:lstStyle/>
          <a:p>
            <a:r>
              <a:rPr sz="3800" b="1" i="0">
                <a:solidFill>
                  <a:srgbClr val="FFFFFF"/>
                </a:solidFill>
                <a:latin typeface="Calibri Light"/>
              </a:rPr>
              <a:t>Product Overview</a:t>
            </a:r>
          </a:p>
        </p:txBody>
      </p:sp>
      <p:sp>
        <p:nvSpPr>
          <p:cNvPr id="4" name="Rectangle 3"/>
          <p:cNvSpPr/>
          <p:nvPr/>
        </p:nvSpPr>
        <p:spPr>
          <a:xfrm>
            <a:off x="640080" y="3886200"/>
            <a:ext cx="182880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023360"/>
            <a:ext cx="10911535" cy="914400"/>
          </a:xfrm>
          <a:prstGeom prst="rect">
            <a:avLst/>
          </a:prstGeom>
          <a:noFill/>
        </p:spPr>
        <p:txBody>
          <a:bodyPr wrap="square" anchor="t" lIns="45720" rIns="45720" tIns="27432" bIns="27432">
            <a:spAutoFit/>
          </a:bodyPr>
          <a:lstStyle/>
          <a:p>
            <a:r>
              <a:rPr sz="2000" b="0" i="0">
                <a:solidFill>
                  <a:srgbClr val="C9D6EA"/>
                </a:solidFill>
                <a:latin typeface="Calibri"/>
              </a:rPr>
              <a:t>What we study and why it matters</a:t>
            </a:r>
          </a:p>
        </p:txBody>
      </p:sp>
      <p:sp>
        <p:nvSpPr>
          <p:cNvPr id="6" name="TextBox 5"/>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Calibri"/>
              </a:rPr>
              <a:t>Scientific Discovery : Molecular biology</a:t>
            </a:r>
          </a:p>
        </p:txBody>
      </p:sp>
      <p:sp>
        <p:nvSpPr>
          <p:cNvPr id="7" name="TextBox 6"/>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640080" y="320040"/>
            <a:ext cx="415076" cy="365760"/>
          </a:xfrm>
          <a:prstGeom prst="rect">
            <a:avLst/>
          </a:prstGeom>
        </p:spPr>
      </p:pic>
      <p:sp>
        <p:nvSpPr>
          <p:cNvPr id="3" name="TextBox 2"/>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1F3864"/>
                </a:solidFill>
                <a:latin typeface="Calibri Light"/>
              </a:rPr>
              <a:t>The Central Dogma</a:t>
            </a:r>
          </a:p>
        </p:txBody>
      </p:sp>
      <p:sp>
        <p:nvSpPr>
          <p:cNvPr id="4" name="Rectangle 3"/>
          <p:cNvSpPr/>
          <p:nvPr/>
        </p:nvSpPr>
        <p:spPr>
          <a:xfrm>
            <a:off x="640080" y="1435608"/>
            <a:ext cx="219456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3"/>
          <a:stretch>
            <a:fillRect/>
          </a:stretch>
        </p:blipFill>
        <p:spPr>
          <a:xfrm>
            <a:off x="640080" y="2316525"/>
            <a:ext cx="6328690" cy="3230788"/>
          </a:xfrm>
          <a:prstGeom prst="rect">
            <a:avLst/>
          </a:prstGeom>
        </p:spPr>
      </p:pic>
      <p:sp>
        <p:nvSpPr>
          <p:cNvPr id="6" name="TextBox 5"/>
          <p:cNvSpPr txBox="1"/>
          <p:nvPr/>
        </p:nvSpPr>
        <p:spPr>
          <a:xfrm>
            <a:off x="7288810" y="1554480"/>
            <a:ext cx="4262804" cy="4754879"/>
          </a:xfrm>
          <a:prstGeom prst="rect">
            <a:avLst/>
          </a:prstGeom>
          <a:noFill/>
        </p:spPr>
        <p:txBody>
          <a:bodyPr wrap="square" anchor="ctr" lIns="45720" rIns="45720" tIns="27432" bIns="27432">
            <a:spAutoFit/>
          </a:bodyPr>
          <a:lstStyle/>
          <a:p>
            <a:pPr algn="l">
              <a:lnSpc>
                <a:spcPct val="115000"/>
              </a:lnSpc>
            </a:pPr>
            <a:r>
              <a:rPr sz="1400" b="0" i="0">
                <a:solidFill>
                  <a:srgbClr val="333333"/>
                </a:solidFill>
                <a:latin typeface="Calibri"/>
              </a:rPr>
              <a:t>Molecular biology seeks to understand the molecular structures and chemical processes underlying biological activity within and between cells. It centers on nucleic acids (DNA, RNA) and proteins, and how they orchestrate replication, transcription and translation.</a:t>
            </a:r>
          </a:p>
        </p:txBody>
      </p:sp>
      <p:sp>
        <p:nvSpPr>
          <p:cNvPr id="7" name="TextBox 6"/>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Calibri"/>
              </a:rPr>
              <a:t>Scientific Discovery : Molecular biology</a:t>
            </a:r>
          </a:p>
        </p:txBody>
      </p:sp>
      <p:sp>
        <p:nvSpPr>
          <p:cNvPr id="8" name="TextBox 7"/>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640080" y="320040"/>
            <a:ext cx="415076" cy="365760"/>
          </a:xfrm>
          <a:prstGeom prst="rect">
            <a:avLst/>
          </a:prstGeom>
        </p:spPr>
      </p:pic>
      <p:sp>
        <p:nvSpPr>
          <p:cNvPr id="3" name="TextBox 2"/>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1F3864"/>
                </a:solidFill>
                <a:latin typeface="Calibri Light"/>
              </a:rPr>
              <a:t>History of Molecular Biology</a:t>
            </a:r>
          </a:p>
        </p:txBody>
      </p:sp>
      <p:sp>
        <p:nvSpPr>
          <p:cNvPr id="4" name="Rectangle 3"/>
          <p:cNvSpPr/>
          <p:nvPr/>
        </p:nvSpPr>
        <p:spPr>
          <a:xfrm>
            <a:off x="640080" y="1435608"/>
            <a:ext cx="219456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554480"/>
            <a:ext cx="5295747" cy="4754879"/>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737360"/>
            <a:ext cx="4929987" cy="4389119"/>
          </a:xfrm>
          <a:prstGeom prst="rect">
            <a:avLst/>
          </a:prstGeom>
          <a:noFill/>
        </p:spPr>
        <p:txBody>
          <a:bodyPr wrap="square" anchor="t" lIns="45720" rIns="45720" tIns="27432" bIns="27432">
            <a:spAutoFit/>
          </a:bodyPr>
          <a:lstStyle/>
          <a:p>
            <a:pPr algn="l">
              <a:lnSpc>
                <a:spcPct val="115000"/>
              </a:lnSpc>
            </a:pPr>
            <a:r>
              <a:rPr sz="1600" b="0" i="0">
                <a:solidFill>
                  <a:srgbClr val="333333"/>
                </a:solidFill>
                <a:latin typeface="Calibri"/>
              </a:rPr>
              <a:t>Molecular biology sits at the intersection of biochemistry and genetics. As these disciplines evolved through the 20th century it became clear they both sought the molecular mechanisms behind vital cellular functions.</a:t>
            </a:r>
          </a:p>
        </p:txBody>
      </p:sp>
      <p:sp>
        <p:nvSpPr>
          <p:cNvPr id="7" name="Rectangle 6"/>
          <p:cNvSpPr/>
          <p:nvPr/>
        </p:nvSpPr>
        <p:spPr>
          <a:xfrm>
            <a:off x="6255867" y="1554480"/>
            <a:ext cx="5295747" cy="4754879"/>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38747"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333333"/>
                </a:solidFill>
                <a:latin typeface="Calibri"/>
              </a:rPr>
              <a:t>•  1866 - Mendel describes the laws of inheritance</a:t>
            </a:r>
          </a:p>
          <a:p>
            <a:pPr>
              <a:lnSpc>
                <a:spcPct val="110000"/>
              </a:lnSpc>
              <a:spcAft>
                <a:spcPts val="600"/>
              </a:spcAft>
            </a:pPr>
            <a:r>
              <a:rPr sz="1600" b="0" i="0">
                <a:solidFill>
                  <a:srgbClr val="333333"/>
                </a:solidFill>
                <a:latin typeface="Calibri"/>
              </a:rPr>
              <a:t>•  1953 - Watson &amp; Crick, the DNA double helix</a:t>
            </a:r>
          </a:p>
          <a:p>
            <a:pPr>
              <a:lnSpc>
                <a:spcPct val="110000"/>
              </a:lnSpc>
              <a:spcAft>
                <a:spcPts val="600"/>
              </a:spcAft>
            </a:pPr>
            <a:r>
              <a:rPr sz="1600" b="0" i="0">
                <a:solidFill>
                  <a:srgbClr val="333333"/>
                </a:solidFill>
                <a:latin typeface="Calibri"/>
              </a:rPr>
              <a:t>•  1970s - Recombinant DNA technology</a:t>
            </a:r>
          </a:p>
          <a:p>
            <a:pPr>
              <a:lnSpc>
                <a:spcPct val="110000"/>
              </a:lnSpc>
              <a:spcAft>
                <a:spcPts val="600"/>
              </a:spcAft>
            </a:pPr>
            <a:r>
              <a:rPr sz="1600" b="0" i="0">
                <a:solidFill>
                  <a:srgbClr val="333333"/>
                </a:solidFill>
                <a:latin typeface="Calibri"/>
              </a:rPr>
              <a:t>•  2003 - Human Genome Project completed</a:t>
            </a:r>
          </a:p>
        </p:txBody>
      </p:sp>
      <p:sp>
        <p:nvSpPr>
          <p:cNvPr id="9" name="TextBox 8"/>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Calibri"/>
              </a:rPr>
              <a:t>Scientific Discovery : Molecular biology</a:t>
            </a:r>
          </a:p>
        </p:txBody>
      </p:sp>
      <p:sp>
        <p:nvSpPr>
          <p:cNvPr id="10" name="TextBox 9"/>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640080" y="320040"/>
            <a:ext cx="415076" cy="365760"/>
          </a:xfrm>
          <a:prstGeom prst="rect">
            <a:avLst/>
          </a:prstGeom>
        </p:spPr>
      </p:pic>
      <p:sp>
        <p:nvSpPr>
          <p:cNvPr id="3" name="TextBox 2"/>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1F3864"/>
                </a:solidFill>
                <a:latin typeface="Calibri Light"/>
              </a:rPr>
              <a:t>Three Pillars</a:t>
            </a:r>
          </a:p>
        </p:txBody>
      </p:sp>
      <p:sp>
        <p:nvSpPr>
          <p:cNvPr id="4" name="Rectangle 3"/>
          <p:cNvSpPr/>
          <p:nvPr/>
        </p:nvSpPr>
        <p:spPr>
          <a:xfrm>
            <a:off x="640080" y="1435608"/>
            <a:ext cx="219456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554480"/>
            <a:ext cx="3423818" cy="4754879"/>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737360"/>
            <a:ext cx="3058058" cy="4389119"/>
          </a:xfrm>
          <a:prstGeom prst="rect">
            <a:avLst/>
          </a:prstGeom>
          <a:noFill/>
        </p:spPr>
        <p:txBody>
          <a:bodyPr wrap="square" anchor="t" lIns="45720" rIns="45720" tIns="27432" bIns="27432">
            <a:spAutoFit/>
          </a:bodyPr>
          <a:lstStyle/>
          <a:p>
            <a:pPr>
              <a:lnSpc>
                <a:spcPct val="110000"/>
              </a:lnSpc>
              <a:spcAft>
                <a:spcPts val="600"/>
              </a:spcAft>
            </a:pPr>
            <a:r>
              <a:rPr sz="1800" b="0" i="0">
                <a:solidFill>
                  <a:srgbClr val="333333"/>
                </a:solidFill>
                <a:latin typeface="Calibri"/>
              </a:rPr>
              <a:t>•  Structure</a:t>
            </a:r>
          </a:p>
          <a:p>
            <a:pPr>
              <a:lnSpc>
                <a:spcPct val="110000"/>
              </a:lnSpc>
              <a:spcAft>
                <a:spcPts val="600"/>
              </a:spcAft>
            </a:pPr>
            <a:r>
              <a:rPr sz="1800" b="0" i="0">
                <a:solidFill>
                  <a:srgbClr val="333333"/>
                </a:solidFill>
                <a:latin typeface="Calibri"/>
              </a:rPr>
              <a:t>•  X-ray crystallography</a:t>
            </a:r>
          </a:p>
          <a:p>
            <a:pPr>
              <a:lnSpc>
                <a:spcPct val="110000"/>
              </a:lnSpc>
              <a:spcAft>
                <a:spcPts val="600"/>
              </a:spcAft>
            </a:pPr>
            <a:r>
              <a:rPr sz="1800" b="0" i="0">
                <a:solidFill>
                  <a:srgbClr val="333333"/>
                </a:solidFill>
                <a:latin typeface="Calibri"/>
              </a:rPr>
              <a:t>•  Cryo-EM</a:t>
            </a:r>
          </a:p>
        </p:txBody>
      </p:sp>
      <p:sp>
        <p:nvSpPr>
          <p:cNvPr id="7" name="Rectangle 6"/>
          <p:cNvSpPr/>
          <p:nvPr/>
        </p:nvSpPr>
        <p:spPr>
          <a:xfrm>
            <a:off x="4383938" y="1554480"/>
            <a:ext cx="3423818" cy="4754879"/>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6818" y="1737360"/>
            <a:ext cx="3058058" cy="4389119"/>
          </a:xfrm>
          <a:prstGeom prst="rect">
            <a:avLst/>
          </a:prstGeom>
          <a:noFill/>
        </p:spPr>
        <p:txBody>
          <a:bodyPr wrap="square" anchor="t" lIns="45720" rIns="45720" tIns="27432" bIns="27432">
            <a:spAutoFit/>
          </a:bodyPr>
          <a:lstStyle/>
          <a:p>
            <a:pPr>
              <a:lnSpc>
                <a:spcPct val="110000"/>
              </a:lnSpc>
              <a:spcAft>
                <a:spcPts val="600"/>
              </a:spcAft>
            </a:pPr>
            <a:r>
              <a:rPr sz="1800" b="0" i="0">
                <a:solidFill>
                  <a:srgbClr val="333333"/>
                </a:solidFill>
                <a:latin typeface="Calibri"/>
              </a:rPr>
              <a:t>•  Function</a:t>
            </a:r>
          </a:p>
          <a:p>
            <a:pPr>
              <a:lnSpc>
                <a:spcPct val="110000"/>
              </a:lnSpc>
              <a:spcAft>
                <a:spcPts val="600"/>
              </a:spcAft>
            </a:pPr>
            <a:r>
              <a:rPr sz="1800" b="0" i="0">
                <a:solidFill>
                  <a:srgbClr val="333333"/>
                </a:solidFill>
                <a:latin typeface="Calibri"/>
              </a:rPr>
              <a:t>•  Enzyme kinetics</a:t>
            </a:r>
          </a:p>
          <a:p>
            <a:pPr>
              <a:lnSpc>
                <a:spcPct val="110000"/>
              </a:lnSpc>
              <a:spcAft>
                <a:spcPts val="600"/>
              </a:spcAft>
            </a:pPr>
            <a:r>
              <a:rPr sz="1800" b="0" i="0">
                <a:solidFill>
                  <a:srgbClr val="333333"/>
                </a:solidFill>
                <a:latin typeface="Calibri"/>
              </a:rPr>
              <a:t>•  Signalling</a:t>
            </a:r>
          </a:p>
        </p:txBody>
      </p:sp>
      <p:sp>
        <p:nvSpPr>
          <p:cNvPr id="9" name="Rectangle 8"/>
          <p:cNvSpPr/>
          <p:nvPr/>
        </p:nvSpPr>
        <p:spPr>
          <a:xfrm>
            <a:off x="8127796" y="1554480"/>
            <a:ext cx="3423818" cy="4754879"/>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10676" y="1737360"/>
            <a:ext cx="3058058" cy="4389119"/>
          </a:xfrm>
          <a:prstGeom prst="rect">
            <a:avLst/>
          </a:prstGeom>
          <a:noFill/>
        </p:spPr>
        <p:txBody>
          <a:bodyPr wrap="square" anchor="t" lIns="45720" rIns="45720" tIns="27432" bIns="27432">
            <a:spAutoFit/>
          </a:bodyPr>
          <a:lstStyle/>
          <a:p>
            <a:pPr>
              <a:lnSpc>
                <a:spcPct val="110000"/>
              </a:lnSpc>
              <a:spcAft>
                <a:spcPts val="600"/>
              </a:spcAft>
            </a:pPr>
            <a:r>
              <a:rPr sz="1800" b="0" i="0">
                <a:solidFill>
                  <a:srgbClr val="333333"/>
                </a:solidFill>
                <a:latin typeface="Calibri"/>
              </a:rPr>
              <a:t>•  Interactions</a:t>
            </a:r>
          </a:p>
          <a:p>
            <a:pPr>
              <a:lnSpc>
                <a:spcPct val="110000"/>
              </a:lnSpc>
              <a:spcAft>
                <a:spcPts val="600"/>
              </a:spcAft>
            </a:pPr>
            <a:r>
              <a:rPr sz="1800" b="0" i="0">
                <a:solidFill>
                  <a:srgbClr val="333333"/>
                </a:solidFill>
                <a:latin typeface="Calibri"/>
              </a:rPr>
              <a:t>•  Protein-protein</a:t>
            </a:r>
          </a:p>
          <a:p>
            <a:pPr>
              <a:lnSpc>
                <a:spcPct val="110000"/>
              </a:lnSpc>
              <a:spcAft>
                <a:spcPts val="600"/>
              </a:spcAft>
            </a:pPr>
            <a:r>
              <a:rPr sz="1800" b="0" i="0">
                <a:solidFill>
                  <a:srgbClr val="333333"/>
                </a:solidFill>
                <a:latin typeface="Calibri"/>
              </a:rPr>
              <a:t>•  Protein-DNA</a:t>
            </a:r>
          </a:p>
        </p:txBody>
      </p:sp>
      <p:sp>
        <p:nvSpPr>
          <p:cNvPr id="11" name="TextBox 10"/>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Calibri"/>
              </a:rPr>
              <a:t>Scientific Discovery : Molecular biology</a:t>
            </a:r>
          </a:p>
        </p:txBody>
      </p:sp>
      <p:sp>
        <p:nvSpPr>
          <p:cNvPr id="12" name="TextBox 11"/>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640080" y="320040"/>
            <a:ext cx="415076" cy="365760"/>
          </a:xfrm>
          <a:prstGeom prst="rect">
            <a:avLst/>
          </a:prstGeom>
        </p:spPr>
      </p:pic>
      <p:sp>
        <p:nvSpPr>
          <p:cNvPr id="3" name="TextBox 2"/>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1F3864"/>
                </a:solidFill>
                <a:latin typeface="Calibri Light"/>
              </a:rPr>
              <a:t>Growth Strategy - Ansoff Matrix</a:t>
            </a:r>
          </a:p>
        </p:txBody>
      </p:sp>
      <p:sp>
        <p:nvSpPr>
          <p:cNvPr id="4" name="Rectangle 3"/>
          <p:cNvSpPr/>
          <p:nvPr/>
        </p:nvSpPr>
        <p:spPr>
          <a:xfrm>
            <a:off x="640080" y="1435608"/>
            <a:ext cx="219456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554480"/>
            <a:ext cx="2487853" cy="4754879"/>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737360"/>
            <a:ext cx="2122093" cy="4389119"/>
          </a:xfrm>
          <a:prstGeom prst="rect">
            <a:avLst/>
          </a:prstGeom>
          <a:noFill/>
        </p:spPr>
        <p:txBody>
          <a:bodyPr wrap="square" anchor="t" lIns="45720" rIns="45720" tIns="27432" bIns="27432">
            <a:spAutoFit/>
          </a:bodyPr>
          <a:lstStyle/>
          <a:p>
            <a:pPr algn="l">
              <a:lnSpc>
                <a:spcPct val="115000"/>
              </a:lnSpc>
            </a:pPr>
            <a:r>
              <a:rPr sz="1800" b="0" i="0">
                <a:solidFill>
                  <a:srgbClr val="333333"/>
                </a:solidFill>
                <a:latin typeface="Calibri"/>
              </a:rPr>
              <a:t>Market Penetration: sell more existing products to existing markets. The safest approach.</a:t>
            </a:r>
          </a:p>
        </p:txBody>
      </p:sp>
      <p:sp>
        <p:nvSpPr>
          <p:cNvPr id="7" name="Rectangle 6"/>
          <p:cNvSpPr/>
          <p:nvPr/>
        </p:nvSpPr>
        <p:spPr>
          <a:xfrm>
            <a:off x="3447973" y="1554480"/>
            <a:ext cx="2487853" cy="4754879"/>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0853" y="1737360"/>
            <a:ext cx="2122093" cy="4389119"/>
          </a:xfrm>
          <a:prstGeom prst="rect">
            <a:avLst/>
          </a:prstGeom>
          <a:noFill/>
        </p:spPr>
        <p:txBody>
          <a:bodyPr wrap="square" anchor="t" lIns="45720" rIns="45720" tIns="27432" bIns="27432">
            <a:spAutoFit/>
          </a:bodyPr>
          <a:lstStyle/>
          <a:p>
            <a:pPr algn="l">
              <a:lnSpc>
                <a:spcPct val="115000"/>
              </a:lnSpc>
            </a:pPr>
            <a:r>
              <a:rPr sz="1800" b="0" i="0">
                <a:solidFill>
                  <a:srgbClr val="333333"/>
                </a:solidFill>
                <a:latin typeface="Calibri"/>
              </a:rPr>
              <a:t>Market Development: bring existing products to new markets and demographics.</a:t>
            </a:r>
          </a:p>
        </p:txBody>
      </p:sp>
      <p:sp>
        <p:nvSpPr>
          <p:cNvPr id="9" name="Rectangle 8"/>
          <p:cNvSpPr/>
          <p:nvPr/>
        </p:nvSpPr>
        <p:spPr>
          <a:xfrm>
            <a:off x="6255867" y="1554480"/>
            <a:ext cx="2487853" cy="4754879"/>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8747" y="1737360"/>
            <a:ext cx="2122093" cy="4389119"/>
          </a:xfrm>
          <a:prstGeom prst="rect">
            <a:avLst/>
          </a:prstGeom>
          <a:noFill/>
        </p:spPr>
        <p:txBody>
          <a:bodyPr wrap="square" anchor="t" lIns="45720" rIns="45720" tIns="27432" bIns="27432">
            <a:spAutoFit/>
          </a:bodyPr>
          <a:lstStyle/>
          <a:p>
            <a:pPr algn="l">
              <a:lnSpc>
                <a:spcPct val="115000"/>
              </a:lnSpc>
            </a:pPr>
            <a:r>
              <a:rPr sz="1800" b="0" i="0">
                <a:solidFill>
                  <a:srgbClr val="333333"/>
                </a:solidFill>
                <a:latin typeface="Calibri"/>
              </a:rPr>
              <a:t>Product Development: launch new products to the existing customer base.</a:t>
            </a:r>
          </a:p>
        </p:txBody>
      </p:sp>
      <p:sp>
        <p:nvSpPr>
          <p:cNvPr id="11" name="Rectangle 10"/>
          <p:cNvSpPr/>
          <p:nvPr/>
        </p:nvSpPr>
        <p:spPr>
          <a:xfrm>
            <a:off x="9063761" y="1554480"/>
            <a:ext cx="2487853" cy="4754879"/>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46641" y="1737360"/>
            <a:ext cx="2122093" cy="4389119"/>
          </a:xfrm>
          <a:prstGeom prst="rect">
            <a:avLst/>
          </a:prstGeom>
          <a:noFill/>
        </p:spPr>
        <p:txBody>
          <a:bodyPr wrap="square" anchor="t" lIns="45720" rIns="45720" tIns="27432" bIns="27432">
            <a:spAutoFit/>
          </a:bodyPr>
          <a:lstStyle/>
          <a:p>
            <a:pPr algn="l">
              <a:lnSpc>
                <a:spcPct val="115000"/>
              </a:lnSpc>
            </a:pPr>
            <a:r>
              <a:rPr sz="1800" b="0" i="0">
                <a:solidFill>
                  <a:srgbClr val="333333"/>
                </a:solidFill>
                <a:latin typeface="Calibri"/>
              </a:rPr>
              <a:t>Diversification: new products for new markets - highest risk, highest reward.</a:t>
            </a:r>
          </a:p>
        </p:txBody>
      </p:sp>
      <p:sp>
        <p:nvSpPr>
          <p:cNvPr id="13" name="TextBox 12"/>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Calibri"/>
              </a:rPr>
              <a:t>Scientific Discovery : Molecular biology</a:t>
            </a:r>
          </a:p>
        </p:txBody>
      </p:sp>
      <p:sp>
        <p:nvSpPr>
          <p:cNvPr id="14" name="TextBox 13"/>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640080" y="320040"/>
            <a:ext cx="415076" cy="365760"/>
          </a:xfrm>
          <a:prstGeom prst="rect">
            <a:avLst/>
          </a:prstGeom>
        </p:spPr>
      </p:pic>
      <p:sp>
        <p:nvSpPr>
          <p:cNvPr id="3" name="TextBox 2"/>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1F3864"/>
                </a:solidFill>
                <a:latin typeface="Calibri Light"/>
              </a:rPr>
              <a:t>Financials</a:t>
            </a:r>
          </a:p>
        </p:txBody>
      </p:sp>
      <p:sp>
        <p:nvSpPr>
          <p:cNvPr id="4" name="Rectangle 3"/>
          <p:cNvSpPr/>
          <p:nvPr/>
        </p:nvSpPr>
        <p:spPr>
          <a:xfrm>
            <a:off x="640080" y="1435608"/>
            <a:ext cx="219456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1458445" y="1554480"/>
          <a:ext cx="9274804" cy="4754879"/>
        </p:xfrm>
        <a:graphic>
          <a:graphicData uri="http://schemas.openxmlformats.org/drawingml/2006/table">
            <a:tbl>
              <a:tblPr firstRow="1" bandRow="1">
                <a:tableStyleId>{5C22544A-7EE6-4342-B048-85BDC9FD1C3A}</a:tableStyleId>
              </a:tblPr>
              <a:tblGrid>
                <a:gridCol w="2318701"/>
                <a:gridCol w="2318701"/>
                <a:gridCol w="2318701"/>
                <a:gridCol w="2318701"/>
              </a:tblGrid>
              <a:tr h="950975">
                <a:tc>
                  <a:txBody>
                    <a:bodyPr wrap="square"/>
                    <a:lstStyle/>
                    <a:p>
                      <a:r>
                        <a:rPr sz="1400" b="1" i="0">
                          <a:solidFill>
                            <a:srgbClr val="FFFFFF"/>
                          </a:solidFill>
                          <a:latin typeface="Calibri"/>
                        </a:rPr>
                        <a:t>Quarter</a:t>
                      </a:r>
                    </a:p>
                  </a:txBody>
                  <a:tcPr marL="73152" marR="73152" marT="27432" marB="27432">
                    <a:solidFill>
                      <a:srgbClr val="1F3864"/>
                    </a:solidFill>
                  </a:tcPr>
                </a:tc>
                <a:tc>
                  <a:txBody>
                    <a:bodyPr wrap="square"/>
                    <a:lstStyle/>
                    <a:p>
                      <a:r>
                        <a:rPr sz="1400" b="1" i="0">
                          <a:solidFill>
                            <a:srgbClr val="FFFFFF"/>
                          </a:solidFill>
                          <a:latin typeface="Calibri"/>
                        </a:rPr>
                        <a:t>Revenue</a:t>
                      </a:r>
                    </a:p>
                  </a:txBody>
                  <a:tcPr marL="73152" marR="73152" marT="27432" marB="27432">
                    <a:solidFill>
                      <a:srgbClr val="1F3864"/>
                    </a:solidFill>
                  </a:tcPr>
                </a:tc>
                <a:tc>
                  <a:txBody>
                    <a:bodyPr wrap="square"/>
                    <a:lstStyle/>
                    <a:p>
                      <a:r>
                        <a:rPr sz="1400" b="1" i="0">
                          <a:solidFill>
                            <a:srgbClr val="FFFFFF"/>
                          </a:solidFill>
                          <a:latin typeface="Calibri"/>
                        </a:rPr>
                        <a:t>Expenses</a:t>
                      </a:r>
                    </a:p>
                  </a:txBody>
                  <a:tcPr marL="73152" marR="73152" marT="27432" marB="27432">
                    <a:solidFill>
                      <a:srgbClr val="1F3864"/>
                    </a:solidFill>
                  </a:tcPr>
                </a:tc>
                <a:tc>
                  <a:txBody>
                    <a:bodyPr wrap="square"/>
                    <a:lstStyle/>
                    <a:p>
                      <a:r>
                        <a:rPr sz="1400" b="1" i="0">
                          <a:solidFill>
                            <a:srgbClr val="FFFFFF"/>
                          </a:solidFill>
                          <a:latin typeface="Calibri"/>
                        </a:rPr>
                        <a:t>Net profit</a:t>
                      </a:r>
                    </a:p>
                  </a:txBody>
                  <a:tcPr marL="73152" marR="73152" marT="27432" marB="27432">
                    <a:solidFill>
                      <a:srgbClr val="1F3864"/>
                    </a:solidFill>
                  </a:tcPr>
                </a:tc>
              </a:tr>
              <a:tr h="950975">
                <a:tc>
                  <a:txBody>
                    <a:bodyPr wrap="square"/>
                    <a:lstStyle/>
                    <a:p>
                      <a:r>
                        <a:rPr sz="1400" b="0" i="0">
                          <a:solidFill>
                            <a:srgbClr val="333333"/>
                          </a:solidFill>
                          <a:latin typeface="Calibri"/>
                        </a:rPr>
                        <a:t>Q1</a:t>
                      </a:r>
                    </a:p>
                  </a:txBody>
                  <a:tcPr marL="73152" marR="73152" marT="27432" marB="27432">
                    <a:solidFill>
                      <a:srgbClr val="FFFFFF"/>
                    </a:solidFill>
                  </a:tcPr>
                </a:tc>
                <a:tc>
                  <a:txBody>
                    <a:bodyPr wrap="square"/>
                    <a:lstStyle/>
                    <a:p>
                      <a:r>
                        <a:rPr sz="1400" b="0" i="0">
                          <a:solidFill>
                            <a:srgbClr val="333333"/>
                          </a:solidFill>
                          <a:latin typeface="Calibri"/>
                        </a:rPr>
                        <a:t>$200,000</a:t>
                      </a:r>
                    </a:p>
                  </a:txBody>
                  <a:tcPr marL="73152" marR="73152" marT="27432" marB="27432">
                    <a:solidFill>
                      <a:srgbClr val="FFFFFF"/>
                    </a:solidFill>
                  </a:tcPr>
                </a:tc>
                <a:tc>
                  <a:txBody>
                    <a:bodyPr wrap="square"/>
                    <a:lstStyle/>
                    <a:p>
                      <a:r>
                        <a:rPr sz="1400" b="0" i="0">
                          <a:solidFill>
                            <a:srgbClr val="333333"/>
                          </a:solidFill>
                          <a:latin typeface="Calibri"/>
                        </a:rPr>
                        <a:t>$150,000</a:t>
                      </a:r>
                    </a:p>
                  </a:txBody>
                  <a:tcPr marL="73152" marR="73152" marT="27432" marB="27432">
                    <a:solidFill>
                      <a:srgbClr val="FFFFFF"/>
                    </a:solidFill>
                  </a:tcPr>
                </a:tc>
                <a:tc>
                  <a:txBody>
                    <a:bodyPr wrap="square"/>
                    <a:lstStyle/>
                    <a:p>
                      <a:r>
                        <a:rPr sz="1400" b="0" i="0">
                          <a:solidFill>
                            <a:srgbClr val="333333"/>
                          </a:solidFill>
                          <a:latin typeface="Calibri"/>
                        </a:rPr>
                        <a:t>$50,000</a:t>
                      </a:r>
                    </a:p>
                  </a:txBody>
                  <a:tcPr marL="73152" marR="73152" marT="27432" marB="27432">
                    <a:solidFill>
                      <a:srgbClr val="FFFFFF"/>
                    </a:solidFill>
                  </a:tcPr>
                </a:tc>
              </a:tr>
              <a:tr h="950975">
                <a:tc>
                  <a:txBody>
                    <a:bodyPr wrap="square"/>
                    <a:lstStyle/>
                    <a:p>
                      <a:r>
                        <a:rPr sz="1400" b="0" i="0">
                          <a:solidFill>
                            <a:srgbClr val="333333"/>
                          </a:solidFill>
                          <a:latin typeface="Calibri"/>
                        </a:rPr>
                        <a:t>Q2</a:t>
                      </a:r>
                    </a:p>
                  </a:txBody>
                  <a:tcPr marL="73152" marR="73152" marT="27432" marB="27432">
                    <a:solidFill>
                      <a:srgbClr val="EEF3FA"/>
                    </a:solidFill>
                  </a:tcPr>
                </a:tc>
                <a:tc>
                  <a:txBody>
                    <a:bodyPr wrap="square"/>
                    <a:lstStyle/>
                    <a:p>
                      <a:r>
                        <a:rPr sz="1400" b="0" i="0">
                          <a:solidFill>
                            <a:srgbClr val="333333"/>
                          </a:solidFill>
                          <a:latin typeface="Calibri"/>
                        </a:rPr>
                        <a:t>$220,000</a:t>
                      </a:r>
                    </a:p>
                  </a:txBody>
                  <a:tcPr marL="73152" marR="73152" marT="27432" marB="27432">
                    <a:solidFill>
                      <a:srgbClr val="EEF3FA"/>
                    </a:solidFill>
                  </a:tcPr>
                </a:tc>
                <a:tc>
                  <a:txBody>
                    <a:bodyPr wrap="square"/>
                    <a:lstStyle/>
                    <a:p>
                      <a:r>
                        <a:rPr sz="1400" b="0" i="0">
                          <a:solidFill>
                            <a:srgbClr val="333333"/>
                          </a:solidFill>
                          <a:latin typeface="Calibri"/>
                        </a:rPr>
                        <a:t>$155,000</a:t>
                      </a:r>
                    </a:p>
                  </a:txBody>
                  <a:tcPr marL="73152" marR="73152" marT="27432" marB="27432">
                    <a:solidFill>
                      <a:srgbClr val="EEF3FA"/>
                    </a:solidFill>
                  </a:tcPr>
                </a:tc>
                <a:tc>
                  <a:txBody>
                    <a:bodyPr wrap="square"/>
                    <a:lstStyle/>
                    <a:p>
                      <a:r>
                        <a:rPr sz="1400" b="0" i="0">
                          <a:solidFill>
                            <a:srgbClr val="333333"/>
                          </a:solidFill>
                          <a:latin typeface="Calibri"/>
                        </a:rPr>
                        <a:t>$65,000</a:t>
                      </a:r>
                    </a:p>
                  </a:txBody>
                  <a:tcPr marL="73152" marR="73152" marT="27432" marB="27432">
                    <a:solidFill>
                      <a:srgbClr val="EEF3FA"/>
                    </a:solidFill>
                  </a:tcPr>
                </a:tc>
              </a:tr>
              <a:tr h="950975">
                <a:tc>
                  <a:txBody>
                    <a:bodyPr wrap="square"/>
                    <a:lstStyle/>
                    <a:p>
                      <a:r>
                        <a:rPr sz="1400" b="0" i="0">
                          <a:solidFill>
                            <a:srgbClr val="333333"/>
                          </a:solidFill>
                          <a:latin typeface="Calibri"/>
                        </a:rPr>
                        <a:t>Q3</a:t>
                      </a:r>
                    </a:p>
                  </a:txBody>
                  <a:tcPr marL="73152" marR="73152" marT="27432" marB="27432">
                    <a:solidFill>
                      <a:srgbClr val="FFFFFF"/>
                    </a:solidFill>
                  </a:tcPr>
                </a:tc>
                <a:tc>
                  <a:txBody>
                    <a:bodyPr wrap="square"/>
                    <a:lstStyle/>
                    <a:p>
                      <a:r>
                        <a:rPr sz="1400" b="0" i="0">
                          <a:solidFill>
                            <a:srgbClr val="333333"/>
                          </a:solidFill>
                          <a:latin typeface="Calibri"/>
                        </a:rPr>
                        <a:t>$240,000</a:t>
                      </a:r>
                    </a:p>
                  </a:txBody>
                  <a:tcPr marL="73152" marR="73152" marT="27432" marB="27432">
                    <a:solidFill>
                      <a:srgbClr val="FFFFFF"/>
                    </a:solidFill>
                  </a:tcPr>
                </a:tc>
                <a:tc>
                  <a:txBody>
                    <a:bodyPr wrap="square"/>
                    <a:lstStyle/>
                    <a:p>
                      <a:r>
                        <a:rPr sz="1400" b="0" i="0">
                          <a:solidFill>
                            <a:srgbClr val="333333"/>
                          </a:solidFill>
                          <a:latin typeface="Calibri"/>
                        </a:rPr>
                        <a:t>$160,000</a:t>
                      </a:r>
                    </a:p>
                  </a:txBody>
                  <a:tcPr marL="73152" marR="73152" marT="27432" marB="27432">
                    <a:solidFill>
                      <a:srgbClr val="FFFFFF"/>
                    </a:solidFill>
                  </a:tcPr>
                </a:tc>
                <a:tc>
                  <a:txBody>
                    <a:bodyPr wrap="square"/>
                    <a:lstStyle/>
                    <a:p>
                      <a:r>
                        <a:rPr sz="1400" b="0" i="0">
                          <a:solidFill>
                            <a:srgbClr val="333333"/>
                          </a:solidFill>
                          <a:latin typeface="Calibri"/>
                        </a:rPr>
                        <a:t>$80,000</a:t>
                      </a:r>
                    </a:p>
                  </a:txBody>
                  <a:tcPr marL="73152" marR="73152" marT="27432" marB="27432">
                    <a:solidFill>
                      <a:srgbClr val="FFFFFF"/>
                    </a:solidFill>
                  </a:tcPr>
                </a:tc>
              </a:tr>
              <a:tr h="950979">
                <a:tc>
                  <a:txBody>
                    <a:bodyPr wrap="square"/>
                    <a:lstStyle/>
                    <a:p>
                      <a:r>
                        <a:rPr sz="1400" b="0" i="0">
                          <a:solidFill>
                            <a:srgbClr val="333333"/>
                          </a:solidFill>
                          <a:latin typeface="Calibri"/>
                        </a:rPr>
                        <a:t>Q4</a:t>
                      </a:r>
                    </a:p>
                  </a:txBody>
                  <a:tcPr marL="73152" marR="73152" marT="27432" marB="27432">
                    <a:solidFill>
                      <a:srgbClr val="EEF3FA"/>
                    </a:solidFill>
                  </a:tcPr>
                </a:tc>
                <a:tc>
                  <a:txBody>
                    <a:bodyPr wrap="square"/>
                    <a:lstStyle/>
                    <a:p>
                      <a:r>
                        <a:rPr sz="1400" b="0" i="0">
                          <a:solidFill>
                            <a:srgbClr val="333333"/>
                          </a:solidFill>
                          <a:latin typeface="Calibri"/>
                        </a:rPr>
                        <a:t>$260,000</a:t>
                      </a:r>
                    </a:p>
                  </a:txBody>
                  <a:tcPr marL="73152" marR="73152" marT="27432" marB="27432">
                    <a:solidFill>
                      <a:srgbClr val="EEF3FA"/>
                    </a:solidFill>
                  </a:tcPr>
                </a:tc>
                <a:tc>
                  <a:txBody>
                    <a:bodyPr wrap="square"/>
                    <a:lstStyle/>
                    <a:p>
                      <a:r>
                        <a:rPr sz="1400" b="0" i="0">
                          <a:solidFill>
                            <a:srgbClr val="333333"/>
                          </a:solidFill>
                          <a:latin typeface="Calibri"/>
                        </a:rPr>
                        <a:t>$165,000</a:t>
                      </a:r>
                    </a:p>
                  </a:txBody>
                  <a:tcPr marL="73152" marR="73152" marT="27432" marB="27432">
                    <a:solidFill>
                      <a:srgbClr val="EEF3FA"/>
                    </a:solidFill>
                  </a:tcPr>
                </a:tc>
                <a:tc>
                  <a:txBody>
                    <a:bodyPr wrap="square"/>
                    <a:lstStyle/>
                    <a:p>
                      <a:r>
                        <a:rPr sz="1400" b="0" i="0">
                          <a:solidFill>
                            <a:srgbClr val="333333"/>
                          </a:solidFill>
                          <a:latin typeface="Calibri"/>
                        </a:rPr>
                        <a:t>$95,000</a:t>
                      </a:r>
                    </a:p>
                  </a:txBody>
                  <a:tcPr marL="73152" marR="73152" marT="27432" marB="27432">
                    <a:solidFill>
                      <a:srgbClr val="EEF3FA"/>
                    </a:solidFill>
                  </a:tcPr>
                </a:tc>
              </a:tr>
            </a:tbl>
          </a:graphicData>
        </a:graphic>
      </p:graphicFrame>
      <p:sp>
        <p:nvSpPr>
          <p:cNvPr id="6" name="TextBox 5"/>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Calibri"/>
              </a:rPr>
              <a:t>Scientific Discovery : Molecular biology</a:t>
            </a:r>
          </a:p>
        </p:txBody>
      </p:sp>
      <p:sp>
        <p:nvSpPr>
          <p:cNvPr id="7" name="TextBox 6"/>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640080" y="320040"/>
            <a:ext cx="415076" cy="365760"/>
          </a:xfrm>
          <a:prstGeom prst="rect">
            <a:avLst/>
          </a:prstGeom>
        </p:spPr>
      </p:pic>
      <p:sp>
        <p:nvSpPr>
          <p:cNvPr id="3" name="TextBox 2"/>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1F3864"/>
                </a:solidFill>
                <a:latin typeface="Calibri Light"/>
              </a:rPr>
              <a:t>Summary</a:t>
            </a:r>
          </a:p>
        </p:txBody>
      </p:sp>
      <p:sp>
        <p:nvSpPr>
          <p:cNvPr id="4" name="Rectangle 3"/>
          <p:cNvSpPr/>
          <p:nvPr/>
        </p:nvSpPr>
        <p:spPr>
          <a:xfrm>
            <a:off x="640080" y="1435608"/>
            <a:ext cx="219456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554480"/>
            <a:ext cx="5295747" cy="4754879"/>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800" b="0" i="0">
                <a:solidFill>
                  <a:srgbClr val="333333"/>
                </a:solidFill>
                <a:latin typeface="Calibri"/>
              </a:rPr>
              <a:t>•  Positioned for success in a dynamic market.</a:t>
            </a:r>
          </a:p>
          <a:p>
            <a:pPr>
              <a:lnSpc>
                <a:spcPct val="110000"/>
              </a:lnSpc>
              <a:spcAft>
                <a:spcPts val="600"/>
              </a:spcAft>
            </a:pPr>
            <a:r>
              <a:rPr sz="1800" b="0" i="0">
                <a:solidFill>
                  <a:srgbClr val="333333"/>
                </a:solidFill>
                <a:latin typeface="Calibri"/>
              </a:rPr>
              <a:t>•  Focus on innovation, user experience and strategic growth.</a:t>
            </a:r>
          </a:p>
          <a:p>
            <a:pPr>
              <a:lnSpc>
                <a:spcPct val="110000"/>
              </a:lnSpc>
              <a:spcAft>
                <a:spcPts val="600"/>
              </a:spcAft>
            </a:pPr>
            <a:r>
              <a:rPr sz="1800" b="0" i="0">
                <a:solidFill>
                  <a:srgbClr val="333333"/>
                </a:solidFill>
                <a:latin typeface="Calibri"/>
              </a:rPr>
              <a:t>•  Commitment to user satisfaction across operations.</a:t>
            </a:r>
          </a:p>
        </p:txBody>
      </p:sp>
      <p:sp>
        <p:nvSpPr>
          <p:cNvPr id="7" name="Rectangle 6"/>
          <p:cNvSpPr/>
          <p:nvPr/>
        </p:nvSpPr>
        <p:spPr>
          <a:xfrm>
            <a:off x="6255867" y="1554480"/>
            <a:ext cx="5295747" cy="4754879"/>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38747"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800" b="0" i="0">
                <a:solidFill>
                  <a:srgbClr val="333333"/>
                </a:solidFill>
                <a:latin typeface="Calibri"/>
              </a:rPr>
              <a:t>•  Strong market positioning</a:t>
            </a:r>
          </a:p>
          <a:p>
            <a:pPr>
              <a:lnSpc>
                <a:spcPct val="110000"/>
              </a:lnSpc>
              <a:spcAft>
                <a:spcPts val="600"/>
              </a:spcAft>
            </a:pPr>
            <a:r>
              <a:rPr sz="1800" b="0" i="0">
                <a:solidFill>
                  <a:srgbClr val="333333"/>
                </a:solidFill>
                <a:latin typeface="Calibri"/>
              </a:rPr>
              <a:t>•  Robust growth strategy</a:t>
            </a:r>
          </a:p>
          <a:p>
            <a:pPr>
              <a:lnSpc>
                <a:spcPct val="110000"/>
              </a:lnSpc>
              <a:spcAft>
                <a:spcPts val="600"/>
              </a:spcAft>
            </a:pPr>
            <a:r>
              <a:rPr sz="1800" b="0" i="0">
                <a:solidFill>
                  <a:srgbClr val="333333"/>
                </a:solidFill>
                <a:latin typeface="Calibri"/>
              </a:rPr>
              <a:t>•  Innovative product development</a:t>
            </a:r>
          </a:p>
        </p:txBody>
      </p:sp>
      <p:sp>
        <p:nvSpPr>
          <p:cNvPr id="9" name="TextBox 8"/>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Calibri"/>
              </a:rPr>
              <a:t>Scientific Discovery : Molecular biology</a:t>
            </a:r>
          </a:p>
        </p:txBody>
      </p:sp>
      <p:sp>
        <p:nvSpPr>
          <p:cNvPr id="10" name="TextBox 9"/>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Calibri"/>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