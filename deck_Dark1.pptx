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FFFFFF"/>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AFC3DA"/>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Agenda</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D5DEE8"/>
                </a:solidFill>
                <a:latin typeface="Daytona Condensed Light"/>
              </a:rPr>
              <a:t>•  About us</a:t>
            </a:r>
          </a:p>
          <a:p>
            <a:pPr>
              <a:lnSpc>
                <a:spcPct val="110000"/>
              </a:lnSpc>
              <a:spcAft>
                <a:spcPts val="600"/>
              </a:spcAft>
            </a:pPr>
            <a:r>
              <a:rPr sz="1800" b="0" i="0">
                <a:solidFill>
                  <a:srgbClr val="D5DEE8"/>
                </a:solidFill>
                <a:latin typeface="Daytona Condensed Light"/>
              </a:rPr>
              <a:t>•  Product overview</a:t>
            </a:r>
          </a:p>
          <a:p>
            <a:pPr>
              <a:lnSpc>
                <a:spcPct val="110000"/>
              </a:lnSpc>
              <a:spcAft>
                <a:spcPts val="600"/>
              </a:spcAft>
            </a:pPr>
            <a:r>
              <a:rPr sz="1800" b="0" i="0">
                <a:solidFill>
                  <a:srgbClr val="D5DEE8"/>
                </a:solidFill>
                <a:latin typeface="Daytona Condensed Light"/>
              </a:rPr>
              <a:t>•  History of molecular biology</a:t>
            </a:r>
          </a:p>
          <a:p>
            <a:pPr>
              <a:lnSpc>
                <a:spcPct val="110000"/>
              </a:lnSpc>
              <a:spcAft>
                <a:spcPts val="600"/>
              </a:spcAft>
            </a:pPr>
            <a:r>
              <a:rPr sz="1800" b="0" i="0">
                <a:solidFill>
                  <a:srgbClr val="D5DEE8"/>
                </a:solidFill>
                <a:latin typeface="Daytona Condensed Light"/>
              </a:rPr>
              <a:t>•  Growth Strategy</a:t>
            </a:r>
          </a:p>
          <a:p>
            <a:pPr>
              <a:lnSpc>
                <a:spcPct val="110000"/>
              </a:lnSpc>
              <a:spcAft>
                <a:spcPts val="600"/>
              </a:spcAft>
            </a:pPr>
            <a:r>
              <a:rPr sz="1800" b="0" i="0">
                <a:solidFill>
                  <a:srgbClr val="D5DEE8"/>
                </a:solidFill>
                <a:latin typeface="Daytona Condensed Light"/>
              </a:rPr>
              <a:t>•  Proguct Growth Ansoff Matrix</a:t>
            </a:r>
          </a:p>
          <a:p>
            <a:pPr>
              <a:lnSpc>
                <a:spcPct val="110000"/>
              </a:lnSpc>
              <a:spcAft>
                <a:spcPts val="600"/>
              </a:spcAft>
            </a:pPr>
            <a:r>
              <a:rPr sz="1800" b="0" i="0">
                <a:solidFill>
                  <a:srgbClr val="D5DEE8"/>
                </a:solidFill>
                <a:latin typeface="Daytona Condensed Light"/>
              </a:rPr>
              <a:t>•  Financials</a:t>
            </a:r>
          </a:p>
          <a:p>
            <a:pPr>
              <a:lnSpc>
                <a:spcPct val="110000"/>
              </a:lnSpc>
              <a:spcAft>
                <a:spcPts val="600"/>
              </a:spcAft>
            </a:pPr>
            <a:r>
              <a:rPr sz="1800" b="0" i="0">
                <a:solidFill>
                  <a:srgbClr val="D5DEE8"/>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Product overview</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640080" y="2316525"/>
            <a:ext cx="6328690" cy="3230788"/>
          </a:xfrm>
          <a:prstGeom prst="rect">
            <a:avLst/>
          </a:prstGeom>
        </p:spPr>
      </p:pic>
      <p:sp>
        <p:nvSpPr>
          <p:cNvPr id="5" name="TextBox 4"/>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D5DEE8"/>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History of molecular biology</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5DEE8"/>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5DEE8"/>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Growth Strategy</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5DEE8"/>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D5DEE8"/>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5DEE8"/>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D5DEE8"/>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Proguct Growth Ansoff Matrix</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Financials</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Daytona Condensed Light"/>
                        </a:rPr>
                        <a:t>Quater</a:t>
                      </a:r>
                    </a:p>
                  </a:txBody>
                  <a:tcPr marL="73152" marR="73152" marT="27432" marB="27432">
                    <a:solidFill>
                      <a:srgbClr val="1B3A5B"/>
                    </a:solidFill>
                  </a:tcPr>
                </a:tc>
                <a:tc>
                  <a:txBody>
                    <a:bodyPr wrap="square"/>
                    <a:lstStyle/>
                    <a:p>
                      <a:r>
                        <a:rPr sz="1400" b="1" i="0">
                          <a:solidFill>
                            <a:srgbClr val="FFFFFF"/>
                          </a:solidFill>
                          <a:latin typeface="Daytona Condensed Light"/>
                        </a:rPr>
                        <a:t>Revenue</a:t>
                      </a:r>
                    </a:p>
                  </a:txBody>
                  <a:tcPr marL="73152" marR="73152" marT="27432" marB="27432">
                    <a:solidFill>
                      <a:srgbClr val="1B3A5B"/>
                    </a:solidFill>
                  </a:tcPr>
                </a:tc>
                <a:tc>
                  <a:txBody>
                    <a:bodyPr wrap="square"/>
                    <a:lstStyle/>
                    <a:p>
                      <a:r>
                        <a:rPr sz="1400" b="1" i="0">
                          <a:solidFill>
                            <a:srgbClr val="FFFFFF"/>
                          </a:solidFill>
                          <a:latin typeface="Daytona Condensed Light"/>
                        </a:rPr>
                        <a:t>Expenses</a:t>
                      </a:r>
                    </a:p>
                  </a:txBody>
                  <a:tcPr marL="73152" marR="73152" marT="27432" marB="27432">
                    <a:solidFill>
                      <a:srgbClr val="1B3A5B"/>
                    </a:solidFill>
                  </a:tcPr>
                </a:tc>
                <a:tc>
                  <a:txBody>
                    <a:bodyPr wrap="square"/>
                    <a:lstStyle/>
                    <a:p>
                      <a:r>
                        <a:rPr sz="1400" b="1" i="0">
                          <a:solidFill>
                            <a:srgbClr val="FFFFFF"/>
                          </a:solidFill>
                          <a:latin typeface="Daytona Condensed Light"/>
                        </a:rPr>
                        <a:t>Net profit</a:t>
                      </a:r>
                    </a:p>
                  </a:txBody>
                  <a:tcPr marL="73152" marR="73152" marT="27432" marB="27432">
                    <a:solidFill>
                      <a:srgbClr val="1B3A5B"/>
                    </a:solidFill>
                  </a:tcPr>
                </a:tc>
              </a:tr>
              <a:tr h="950975">
                <a:tc>
                  <a:txBody>
                    <a:bodyPr wrap="square"/>
                    <a:lstStyle/>
                    <a:p>
                      <a:r>
                        <a:rPr sz="1400" b="0" i="0">
                          <a:solidFill>
                            <a:srgbClr val="D5DEE8"/>
                          </a:solidFill>
                          <a:latin typeface="Daytona Condensed Light"/>
                        </a:rPr>
                        <a:t>Q1</a:t>
                      </a:r>
                    </a:p>
                  </a:txBody>
                  <a:tcPr marL="73152" marR="73152" marT="27432" marB="27432">
                    <a:solidFill>
                      <a:srgbClr val="0E1B2A"/>
                    </a:solidFill>
                  </a:tcPr>
                </a:tc>
                <a:tc>
                  <a:txBody>
                    <a:bodyPr wrap="square"/>
                    <a:lstStyle/>
                    <a:p>
                      <a:r>
                        <a:rPr sz="1400" b="0" i="0">
                          <a:solidFill>
                            <a:srgbClr val="D5DEE8"/>
                          </a:solidFill>
                          <a:latin typeface="Daytona Condensed Light"/>
                        </a:rPr>
                        <a:t>$200,000</a:t>
                      </a:r>
                    </a:p>
                  </a:txBody>
                  <a:tcPr marL="73152" marR="73152" marT="27432" marB="27432">
                    <a:solidFill>
                      <a:srgbClr val="0E1B2A"/>
                    </a:solidFill>
                  </a:tcPr>
                </a:tc>
                <a:tc>
                  <a:txBody>
                    <a:bodyPr wrap="square"/>
                    <a:lstStyle/>
                    <a:p>
                      <a:r>
                        <a:rPr sz="1400" b="0" i="0">
                          <a:solidFill>
                            <a:srgbClr val="D5DEE8"/>
                          </a:solidFill>
                          <a:latin typeface="Daytona Condensed Light"/>
                        </a:rPr>
                        <a:t>$150,000</a:t>
                      </a:r>
                    </a:p>
                  </a:txBody>
                  <a:tcPr marL="73152" marR="73152" marT="27432" marB="27432">
                    <a:solidFill>
                      <a:srgbClr val="0E1B2A"/>
                    </a:solidFill>
                  </a:tcPr>
                </a:tc>
                <a:tc>
                  <a:txBody>
                    <a:bodyPr wrap="square"/>
                    <a:lstStyle/>
                    <a:p>
                      <a:r>
                        <a:rPr sz="1400" b="0" i="0">
                          <a:solidFill>
                            <a:srgbClr val="D5DEE8"/>
                          </a:solidFill>
                          <a:latin typeface="Daytona Condensed Light"/>
                        </a:rPr>
                        <a:t>$50,000</a:t>
                      </a:r>
                    </a:p>
                  </a:txBody>
                  <a:tcPr marL="73152" marR="73152" marT="27432" marB="27432">
                    <a:solidFill>
                      <a:srgbClr val="0E1B2A"/>
                    </a:solidFill>
                  </a:tcPr>
                </a:tc>
              </a:tr>
              <a:tr h="950975">
                <a:tc>
                  <a:txBody>
                    <a:bodyPr wrap="square"/>
                    <a:lstStyle/>
                    <a:p>
                      <a:r>
                        <a:rPr sz="1400" b="0" i="0">
                          <a:solidFill>
                            <a:srgbClr val="D5DEE8"/>
                          </a:solidFill>
                          <a:latin typeface="Daytona Condensed Light"/>
                        </a:rPr>
                        <a:t>Q2</a:t>
                      </a:r>
                    </a:p>
                  </a:txBody>
                  <a:tcPr marL="73152" marR="73152" marT="27432" marB="27432">
                    <a:solidFill>
                      <a:srgbClr val="152438"/>
                    </a:solidFill>
                  </a:tcPr>
                </a:tc>
                <a:tc>
                  <a:txBody>
                    <a:bodyPr wrap="square"/>
                    <a:lstStyle/>
                    <a:p>
                      <a:r>
                        <a:rPr sz="1400" b="0" i="0">
                          <a:solidFill>
                            <a:srgbClr val="D5DEE8"/>
                          </a:solidFill>
                          <a:latin typeface="Daytona Condensed Light"/>
                        </a:rPr>
                        <a:t>$200,000</a:t>
                      </a:r>
                    </a:p>
                  </a:txBody>
                  <a:tcPr marL="73152" marR="73152" marT="27432" marB="27432">
                    <a:solidFill>
                      <a:srgbClr val="152438"/>
                    </a:solidFill>
                  </a:tcPr>
                </a:tc>
                <a:tc>
                  <a:txBody>
                    <a:bodyPr wrap="square"/>
                    <a:lstStyle/>
                    <a:p>
                      <a:r>
                        <a:rPr sz="1400" b="0" i="0">
                          <a:solidFill>
                            <a:srgbClr val="D5DEE8"/>
                          </a:solidFill>
                          <a:latin typeface="Daytona Condensed Light"/>
                        </a:rPr>
                        <a:t>$150,000</a:t>
                      </a:r>
                    </a:p>
                  </a:txBody>
                  <a:tcPr marL="73152" marR="73152" marT="27432" marB="27432">
                    <a:solidFill>
                      <a:srgbClr val="152438"/>
                    </a:solidFill>
                  </a:tcPr>
                </a:tc>
                <a:tc>
                  <a:txBody>
                    <a:bodyPr wrap="square"/>
                    <a:lstStyle/>
                    <a:p>
                      <a:r>
                        <a:rPr sz="1400" b="0" i="0">
                          <a:solidFill>
                            <a:srgbClr val="D5DEE8"/>
                          </a:solidFill>
                          <a:latin typeface="Daytona Condensed Light"/>
                        </a:rPr>
                        <a:t>$50,000</a:t>
                      </a:r>
                    </a:p>
                  </a:txBody>
                  <a:tcPr marL="73152" marR="73152" marT="27432" marB="27432">
                    <a:solidFill>
                      <a:srgbClr val="152438"/>
                    </a:solidFill>
                  </a:tcPr>
                </a:tc>
              </a:tr>
              <a:tr h="950975">
                <a:tc>
                  <a:txBody>
                    <a:bodyPr wrap="square"/>
                    <a:lstStyle/>
                    <a:p>
                      <a:r>
                        <a:rPr sz="1400" b="0" i="0">
                          <a:solidFill>
                            <a:srgbClr val="D5DEE8"/>
                          </a:solidFill>
                          <a:latin typeface="Daytona Condensed Light"/>
                        </a:rPr>
                        <a:t>Q3</a:t>
                      </a:r>
                    </a:p>
                  </a:txBody>
                  <a:tcPr marL="73152" marR="73152" marT="27432" marB="27432">
                    <a:solidFill>
                      <a:srgbClr val="0E1B2A"/>
                    </a:solidFill>
                  </a:tcPr>
                </a:tc>
                <a:tc>
                  <a:txBody>
                    <a:bodyPr wrap="square"/>
                    <a:lstStyle/>
                    <a:p>
                      <a:r>
                        <a:rPr sz="1400" b="0" i="0">
                          <a:solidFill>
                            <a:srgbClr val="D5DEE8"/>
                          </a:solidFill>
                          <a:latin typeface="Daytona Condensed Light"/>
                        </a:rPr>
                        <a:t>$200,000</a:t>
                      </a:r>
                    </a:p>
                  </a:txBody>
                  <a:tcPr marL="73152" marR="73152" marT="27432" marB="27432">
                    <a:solidFill>
                      <a:srgbClr val="0E1B2A"/>
                    </a:solidFill>
                  </a:tcPr>
                </a:tc>
                <a:tc>
                  <a:txBody>
                    <a:bodyPr wrap="square"/>
                    <a:lstStyle/>
                    <a:p>
                      <a:r>
                        <a:rPr sz="1400" b="0" i="0">
                          <a:solidFill>
                            <a:srgbClr val="D5DEE8"/>
                          </a:solidFill>
                          <a:latin typeface="Daytona Condensed Light"/>
                        </a:rPr>
                        <a:t>$150,000</a:t>
                      </a:r>
                    </a:p>
                  </a:txBody>
                  <a:tcPr marL="73152" marR="73152" marT="27432" marB="27432">
                    <a:solidFill>
                      <a:srgbClr val="0E1B2A"/>
                    </a:solidFill>
                  </a:tcPr>
                </a:tc>
                <a:tc>
                  <a:txBody>
                    <a:bodyPr wrap="square"/>
                    <a:lstStyle/>
                    <a:p>
                      <a:r>
                        <a:rPr sz="1400" b="0" i="0">
                          <a:solidFill>
                            <a:srgbClr val="D5DEE8"/>
                          </a:solidFill>
                          <a:latin typeface="Daytona Condensed Light"/>
                        </a:rPr>
                        <a:t>$50,000</a:t>
                      </a:r>
                    </a:p>
                  </a:txBody>
                  <a:tcPr marL="73152" marR="73152" marT="27432" marB="27432">
                    <a:solidFill>
                      <a:srgbClr val="0E1B2A"/>
                    </a:solidFill>
                  </a:tcPr>
                </a:tc>
              </a:tr>
              <a:tr h="950979">
                <a:tc>
                  <a:txBody>
                    <a:bodyPr wrap="square"/>
                    <a:lstStyle/>
                    <a:p>
                      <a:r>
                        <a:rPr sz="1400" b="0" i="0">
                          <a:solidFill>
                            <a:srgbClr val="D5DEE8"/>
                          </a:solidFill>
                          <a:latin typeface="Daytona Condensed Light"/>
                        </a:rPr>
                        <a:t>Q4</a:t>
                      </a:r>
                    </a:p>
                  </a:txBody>
                  <a:tcPr marL="73152" marR="73152" marT="27432" marB="27432">
                    <a:solidFill>
                      <a:srgbClr val="152438"/>
                    </a:solidFill>
                  </a:tcPr>
                </a:tc>
                <a:tc>
                  <a:txBody>
                    <a:bodyPr wrap="square"/>
                    <a:lstStyle/>
                    <a:p>
                      <a:r>
                        <a:rPr sz="1400" b="0" i="0">
                          <a:solidFill>
                            <a:srgbClr val="D5DEE8"/>
                          </a:solidFill>
                          <a:latin typeface="Daytona Condensed Light"/>
                        </a:rPr>
                        <a:t>$200,000</a:t>
                      </a:r>
                    </a:p>
                  </a:txBody>
                  <a:tcPr marL="73152" marR="73152" marT="27432" marB="27432">
                    <a:solidFill>
                      <a:srgbClr val="152438"/>
                    </a:solidFill>
                  </a:tcPr>
                </a:tc>
                <a:tc>
                  <a:txBody>
                    <a:bodyPr wrap="square"/>
                    <a:lstStyle/>
                    <a:p>
                      <a:r>
                        <a:rPr sz="1400" b="0" i="0">
                          <a:solidFill>
                            <a:srgbClr val="D5DEE8"/>
                          </a:solidFill>
                          <a:latin typeface="Daytona Condensed Light"/>
                        </a:rPr>
                        <a:t>$150,000</a:t>
                      </a:r>
                    </a:p>
                  </a:txBody>
                  <a:tcPr marL="73152" marR="73152" marT="27432" marB="27432">
                    <a:solidFill>
                      <a:srgbClr val="152438"/>
                    </a:solidFill>
                  </a:tcPr>
                </a:tc>
                <a:tc>
                  <a:txBody>
                    <a:bodyPr wrap="square"/>
                    <a:lstStyle/>
                    <a:p>
                      <a:r>
                        <a:rPr sz="1400" b="0" i="0">
                          <a:solidFill>
                            <a:srgbClr val="D5DEE8"/>
                          </a:solidFill>
                          <a:latin typeface="Daytona Condensed Light"/>
                        </a:rPr>
                        <a:t>$50,000</a:t>
                      </a:r>
                    </a:p>
                  </a:txBody>
                  <a:tcPr marL="73152" marR="73152" marT="27432" marB="27432">
                    <a:solidFill>
                      <a:srgbClr val="152438"/>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B2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Summary</a:t>
            </a:r>
          </a:p>
        </p:txBody>
      </p:sp>
      <p:sp>
        <p:nvSpPr>
          <p:cNvPr id="3" name="Rectangle 2"/>
          <p:cNvSpPr/>
          <p:nvPr/>
        </p:nvSpPr>
        <p:spPr>
          <a:xfrm>
            <a:off x="640080" y="1435608"/>
            <a:ext cx="2194560" cy="457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5DEE8"/>
                </a:solidFill>
                <a:latin typeface="Daytona Condensed Light"/>
              </a:rPr>
              <a:t>•  With this product, Adatum Corporation is positioned for success in the dynamic market.</a:t>
            </a:r>
          </a:p>
          <a:p>
            <a:pPr>
              <a:lnSpc>
                <a:spcPct val="110000"/>
              </a:lnSpc>
              <a:spcAft>
                <a:spcPts val="600"/>
              </a:spcAft>
            </a:pPr>
            <a:r>
              <a:rPr sz="1600" b="0" i="0">
                <a:solidFill>
                  <a:srgbClr val="D5DEE8"/>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D5DEE8"/>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15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5DEE8"/>
                </a:solidFill>
                <a:latin typeface="Daytona Condensed Light"/>
              </a:rPr>
              <a:t>•  Strong market positioning</a:t>
            </a:r>
          </a:p>
          <a:p>
            <a:pPr>
              <a:lnSpc>
                <a:spcPct val="110000"/>
              </a:lnSpc>
              <a:spcAft>
                <a:spcPts val="600"/>
              </a:spcAft>
            </a:pPr>
            <a:r>
              <a:rPr sz="1600" b="0" i="0">
                <a:solidFill>
                  <a:srgbClr val="D5DEE8"/>
                </a:solidFill>
                <a:latin typeface="Daytona Condensed Light"/>
              </a:rPr>
              <a:t>•  Robust growth strategy</a:t>
            </a:r>
          </a:p>
          <a:p>
            <a:pPr>
              <a:lnSpc>
                <a:spcPct val="110000"/>
              </a:lnSpc>
              <a:spcAft>
                <a:spcPts val="600"/>
              </a:spcAft>
            </a:pPr>
            <a:r>
              <a:rPr sz="1600" b="0" i="0">
                <a:solidFill>
                  <a:srgbClr val="D5DEE8"/>
                </a:solidFill>
                <a:latin typeface="Daytona Condensed Light"/>
              </a:rPr>
              <a:t>•  Innovative product development</a:t>
            </a:r>
          </a:p>
          <a:p>
            <a:pPr>
              <a:lnSpc>
                <a:spcPct val="110000"/>
              </a:lnSpc>
              <a:spcAft>
                <a:spcPts val="600"/>
              </a:spcAft>
            </a:pPr>
            <a:r>
              <a:rPr sz="1600" b="0" i="0">
                <a:solidFill>
                  <a:srgbClr val="D5DEE8"/>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8FA3B8"/>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8FA3B8"/>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