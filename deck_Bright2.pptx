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1F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637215" cy="1463040"/>
          </a:xfrm>
          <a:prstGeom prst="rect">
            <a:avLst/>
          </a:prstGeom>
          <a:noFill/>
        </p:spPr>
        <p:txBody>
          <a:bodyPr wrap="square" anchor="b" lIns="45720" rIns="45720" tIns="27432" bIns="27432">
            <a:spAutoFit/>
          </a:bodyPr>
          <a:lstStyle/>
          <a:p>
            <a:r>
              <a:rPr sz="4600" b="1" i="0">
                <a:solidFill>
                  <a:srgbClr val="0B4F4A"/>
                </a:solidFill>
                <a:latin typeface="Posterama"/>
              </a:rPr>
              <a:t>Scientific Discovery</a:t>
            </a:r>
          </a:p>
        </p:txBody>
      </p:sp>
      <p:sp>
        <p:nvSpPr>
          <p:cNvPr id="4" name="TextBox 3"/>
          <p:cNvSpPr txBox="1"/>
          <p:nvPr/>
        </p:nvSpPr>
        <p:spPr>
          <a:xfrm>
            <a:off x="914400" y="3977639"/>
            <a:ext cx="10637215" cy="914400"/>
          </a:xfrm>
          <a:prstGeom prst="rect">
            <a:avLst/>
          </a:prstGeom>
          <a:noFill/>
        </p:spPr>
        <p:txBody>
          <a:bodyPr wrap="square" anchor="t" lIns="45720" rIns="45720" tIns="27432" bIns="27432">
            <a:spAutoFit/>
          </a:bodyPr>
          <a:lstStyle/>
          <a:p>
            <a:r>
              <a:rPr sz="2200" b="0" i="0">
                <a:solidFill>
                  <a:srgbClr val="12726B"/>
                </a:solidFill>
                <a:latin typeface="Daytona Condensed Light"/>
              </a:rPr>
              <a:t>Molecular biology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0B4F4A"/>
                </a:solidFill>
                <a:latin typeface="Posterama"/>
              </a:rPr>
              <a:t>Agenda</a:t>
            </a:r>
          </a:p>
        </p:txBody>
      </p:sp>
      <p:sp>
        <p:nvSpPr>
          <p:cNvPr id="3" name="Rectangle 2"/>
          <p:cNvSpPr/>
          <p:nvPr/>
        </p:nvSpPr>
        <p:spPr>
          <a:xfrm>
            <a:off x="640080" y="1435608"/>
            <a:ext cx="2194560" cy="45720"/>
          </a:xfrm>
          <a:prstGeom prst="rect">
            <a:avLst/>
          </a:prstGeom>
          <a:solidFill>
            <a:srgbClr val="1F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11535" cy="475487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333333"/>
                </a:solidFill>
                <a:latin typeface="Daytona Condensed Light"/>
              </a:rPr>
              <a:t>•  About us</a:t>
            </a:r>
          </a:p>
          <a:p>
            <a:pPr>
              <a:lnSpc>
                <a:spcPct val="110000"/>
              </a:lnSpc>
              <a:spcAft>
                <a:spcPts val="600"/>
              </a:spcAft>
            </a:pPr>
            <a:r>
              <a:rPr sz="1800" b="0" i="0">
                <a:solidFill>
                  <a:srgbClr val="333333"/>
                </a:solidFill>
                <a:latin typeface="Daytona Condensed Light"/>
              </a:rPr>
              <a:t>•  Product overview</a:t>
            </a:r>
          </a:p>
          <a:p>
            <a:pPr>
              <a:lnSpc>
                <a:spcPct val="110000"/>
              </a:lnSpc>
              <a:spcAft>
                <a:spcPts val="600"/>
              </a:spcAft>
            </a:pPr>
            <a:r>
              <a:rPr sz="1800" b="0" i="0">
                <a:solidFill>
                  <a:srgbClr val="333333"/>
                </a:solidFill>
                <a:latin typeface="Daytona Condensed Light"/>
              </a:rPr>
              <a:t>•  History of molecular biology</a:t>
            </a:r>
          </a:p>
          <a:p>
            <a:pPr>
              <a:lnSpc>
                <a:spcPct val="110000"/>
              </a:lnSpc>
              <a:spcAft>
                <a:spcPts val="600"/>
              </a:spcAft>
            </a:pPr>
            <a:r>
              <a:rPr sz="1800" b="0" i="0">
                <a:solidFill>
                  <a:srgbClr val="333333"/>
                </a:solidFill>
                <a:latin typeface="Daytona Condensed Light"/>
              </a:rPr>
              <a:t>•  Growth Strategy</a:t>
            </a:r>
          </a:p>
          <a:p>
            <a:pPr>
              <a:lnSpc>
                <a:spcPct val="110000"/>
              </a:lnSpc>
              <a:spcAft>
                <a:spcPts val="600"/>
              </a:spcAft>
            </a:pPr>
            <a:r>
              <a:rPr sz="1800" b="0" i="0">
                <a:solidFill>
                  <a:srgbClr val="333333"/>
                </a:solidFill>
                <a:latin typeface="Daytona Condensed Light"/>
              </a:rPr>
              <a:t>•  Proguct Growth Ansoff Matrix</a:t>
            </a:r>
          </a:p>
          <a:p>
            <a:pPr>
              <a:lnSpc>
                <a:spcPct val="110000"/>
              </a:lnSpc>
              <a:spcAft>
                <a:spcPts val="600"/>
              </a:spcAft>
            </a:pPr>
            <a:r>
              <a:rPr sz="1800" b="0" i="0">
                <a:solidFill>
                  <a:srgbClr val="333333"/>
                </a:solidFill>
                <a:latin typeface="Daytona Condensed Light"/>
              </a:rPr>
              <a:t>•  Financials</a:t>
            </a:r>
          </a:p>
          <a:p>
            <a:pPr>
              <a:lnSpc>
                <a:spcPct val="110000"/>
              </a:lnSpc>
              <a:spcAft>
                <a:spcPts val="600"/>
              </a:spcAft>
            </a:pPr>
            <a:r>
              <a:rPr sz="1800" b="0" i="0">
                <a:solidFill>
                  <a:srgbClr val="333333"/>
                </a:solidFill>
                <a:latin typeface="Daytona Condensed Light"/>
              </a:rPr>
              <a:t>•  Summary</a:t>
            </a:r>
          </a:p>
        </p:txBody>
      </p:sp>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0B4F4A"/>
                </a:solidFill>
                <a:latin typeface="Posterama"/>
              </a:rPr>
              <a:t>Product overview</a:t>
            </a:r>
          </a:p>
        </p:txBody>
      </p:sp>
      <p:sp>
        <p:nvSpPr>
          <p:cNvPr id="3" name="Rectangle 2"/>
          <p:cNvSpPr/>
          <p:nvPr/>
        </p:nvSpPr>
        <p:spPr>
          <a:xfrm>
            <a:off x="640080" y="1435608"/>
            <a:ext cx="2194560" cy="45720"/>
          </a:xfrm>
          <a:prstGeom prst="rect">
            <a:avLst/>
          </a:prstGeom>
          <a:solidFill>
            <a:srgbClr val="1F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640080" y="2316525"/>
            <a:ext cx="6328690" cy="3230788"/>
          </a:xfrm>
          <a:prstGeom prst="rect">
            <a:avLst/>
          </a:prstGeom>
        </p:spPr>
      </p:pic>
      <p:sp>
        <p:nvSpPr>
          <p:cNvPr id="5" name="TextBox 4"/>
          <p:cNvSpPr txBox="1"/>
          <p:nvPr/>
        </p:nvSpPr>
        <p:spPr>
          <a:xfrm>
            <a:off x="7288810" y="1554480"/>
            <a:ext cx="4262804" cy="4754879"/>
          </a:xfrm>
          <a:prstGeom prst="rect">
            <a:avLst/>
          </a:prstGeom>
          <a:noFill/>
        </p:spPr>
        <p:txBody>
          <a:bodyPr wrap="square" anchor="ctr" lIns="45720" rIns="45720" tIns="27432" bIns="27432">
            <a:spAutoFit/>
          </a:bodyPr>
          <a:lstStyle/>
          <a:p>
            <a:pPr algn="l">
              <a:lnSpc>
                <a:spcPct val="115000"/>
              </a:lnSpc>
            </a:pPr>
            <a:r>
              <a:rPr sz="1400" b="0" i="0">
                <a:solidFill>
                  <a:srgbClr val="333333"/>
                </a:solidFill>
                <a:latin typeface="Daytona Condensed Light"/>
              </a:rPr>
              <a:t>Molecular biology is a branch of biology that seeks to understand the molecular structures and chemical processes that are the basis of biological activity within and between cells. It is centered largely on the study of nucleic acids (such as DNA and RNA) and proteins. It examines the structure, function, and interactions of these macromolecules as they orchestrate processes such as replication, transcription, translation, protein synthesis, and complex biomolecular interactions. The field of molecular biology is multi-disciplinary, relying on principles from genetics, biochemistry, physics, mathematics, and more recently computer science (bioinformatics).</a:t>
            </a:r>
          </a:p>
        </p:txBody>
      </p:sp>
      <p:sp>
        <p:nvSpPr>
          <p:cNvPr id="6" name="TextBox 5"/>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7" name="TextBox 6"/>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0B4F4A"/>
                </a:solidFill>
                <a:latin typeface="Posterama"/>
              </a:rPr>
              <a:t>History of molecular biology</a:t>
            </a:r>
          </a:p>
        </p:txBody>
      </p:sp>
      <p:sp>
        <p:nvSpPr>
          <p:cNvPr id="3" name="Rectangle 2"/>
          <p:cNvSpPr/>
          <p:nvPr/>
        </p:nvSpPr>
        <p:spPr>
          <a:xfrm>
            <a:off x="640080" y="1435608"/>
            <a:ext cx="2194560" cy="45720"/>
          </a:xfrm>
          <a:prstGeom prst="rect">
            <a:avLst/>
          </a:prstGeom>
          <a:solidFill>
            <a:srgbClr val="1F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E9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333333"/>
                </a:solidFill>
                <a:latin typeface="Daytona Condensed Light"/>
              </a:rPr>
              <a:t>Molecular biology sits at the intersection of biochemistry and genetics; as these scientific disciplines emerged and evolved in the 20th century, it became clear that they both sought to determine the molecular mechanisms that underlie vital cellular functions. Advances in molecular biology have been closely related to the development of new technologies and their optimization.</a:t>
            </a:r>
          </a:p>
        </p:txBody>
      </p:sp>
      <p:sp>
        <p:nvSpPr>
          <p:cNvPr id="6" name="Rectangle 5"/>
          <p:cNvSpPr/>
          <p:nvPr/>
        </p:nvSpPr>
        <p:spPr>
          <a:xfrm>
            <a:off x="6255867" y="1554480"/>
            <a:ext cx="5295747" cy="4754879"/>
          </a:xfrm>
          <a:prstGeom prst="rect">
            <a:avLst/>
          </a:prstGeom>
          <a:solidFill>
            <a:srgbClr val="E9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333333"/>
                </a:solidFill>
                <a:latin typeface="Daytona Condensed Light"/>
              </a:rPr>
              <a:t>The field of genetics arose from attempts to understand the set of rules underlying reproduction and heredity, and the nature of the hypothetical units of heredity known as genes. Gregor Mendel pioneered this work in 1866, when he first described the laws of inheritance he observed in his studies of mating crosses in pea plants. One such law of genetic inheritance is the law of segregation, which states that diploid individuals with two alleles for a particular gene will pass one of these alleles to their offspring. Because of his critical work, the study of genetic inheritance is commonly referred to as Mendelian genetics.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0B4F4A"/>
                </a:solidFill>
                <a:latin typeface="Posterama"/>
              </a:rPr>
              <a:t>Growth Strategy</a:t>
            </a:r>
          </a:p>
        </p:txBody>
      </p:sp>
      <p:sp>
        <p:nvSpPr>
          <p:cNvPr id="3" name="Rectangle 2"/>
          <p:cNvSpPr/>
          <p:nvPr/>
        </p:nvSpPr>
        <p:spPr>
          <a:xfrm>
            <a:off x="640080" y="1435608"/>
            <a:ext cx="2194560" cy="45720"/>
          </a:xfrm>
          <a:prstGeom prst="rect">
            <a:avLst/>
          </a:prstGeom>
          <a:solidFill>
            <a:srgbClr val="1F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E9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33333"/>
                </a:solidFill>
                <a:latin typeface="Daytona Condensed Light"/>
              </a:rPr>
              <a:t>•  Market Penetration: Selling more of your existing products to your existing market. This is the safest approach, often achieved by lowering prices, increasing distribution, or ramping up promotional support</a:t>
            </a:r>
          </a:p>
          <a:p>
            <a:pPr>
              <a:lnSpc>
                <a:spcPct val="110000"/>
              </a:lnSpc>
              <a:spcAft>
                <a:spcPts val="600"/>
              </a:spcAft>
            </a:pPr>
            <a:r>
              <a:rPr sz="1600" b="0" i="0">
                <a:solidFill>
                  <a:srgbClr val="333333"/>
                </a:solidFill>
                <a:latin typeface="Daytona Condensed Light"/>
              </a:rPr>
              <a:t>•  Market Development: Taking your existing products and introducing them to new markets. This includes targeting new demographics or expanding geographically</a:t>
            </a:r>
          </a:p>
        </p:txBody>
      </p:sp>
      <p:sp>
        <p:nvSpPr>
          <p:cNvPr id="6" name="Rectangle 5"/>
          <p:cNvSpPr/>
          <p:nvPr/>
        </p:nvSpPr>
        <p:spPr>
          <a:xfrm>
            <a:off x="6255867" y="1554480"/>
            <a:ext cx="5295747" cy="4754879"/>
          </a:xfrm>
          <a:prstGeom prst="rect">
            <a:avLst/>
          </a:prstGeom>
          <a:solidFill>
            <a:srgbClr val="E9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33333"/>
                </a:solidFill>
                <a:latin typeface="Daytona Condensed Light"/>
              </a:rPr>
              <a:t>•  Product Development: Launching new products to your existing market base. This involves R&amp;D to meet unaddressed needs of your current customers.</a:t>
            </a:r>
          </a:p>
          <a:p>
            <a:pPr>
              <a:lnSpc>
                <a:spcPct val="110000"/>
              </a:lnSpc>
              <a:spcAft>
                <a:spcPts val="600"/>
              </a:spcAft>
            </a:pPr>
            <a:r>
              <a:rPr sz="1600" b="0" i="0">
                <a:solidFill>
                  <a:srgbClr val="333333"/>
                </a:solidFill>
                <a:latin typeface="Daytona Condensed Light"/>
              </a:rPr>
              <a:t>•  Diversification: Developing new products for new markets. This is the riskiest but potentially highest-reward strategy, often requiring mergers or acquisitions.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0B4F4A"/>
                </a:solidFill>
                <a:latin typeface="Posterama"/>
              </a:rPr>
              <a:t>Proguct Growth Ansoff Matrix</a:t>
            </a:r>
          </a:p>
        </p:txBody>
      </p:sp>
      <p:sp>
        <p:nvSpPr>
          <p:cNvPr id="3" name="Rectangle 2"/>
          <p:cNvSpPr/>
          <p:nvPr/>
        </p:nvSpPr>
        <p:spPr>
          <a:xfrm>
            <a:off x="640080" y="1435608"/>
            <a:ext cx="2194560" cy="45720"/>
          </a:xfrm>
          <a:prstGeom prst="rect">
            <a:avLst/>
          </a:prstGeom>
          <a:solidFill>
            <a:srgbClr val="1F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549174" y="1554480"/>
            <a:ext cx="7093345" cy="4754879"/>
          </a:xfrm>
          <a:prstGeom prst="rect">
            <a:avLst/>
          </a:prstGeom>
        </p:spPr>
      </p:pic>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0B4F4A"/>
                </a:solidFill>
                <a:latin typeface="Posterama"/>
              </a:rPr>
              <a:t>Financials</a:t>
            </a:r>
          </a:p>
        </p:txBody>
      </p:sp>
      <p:sp>
        <p:nvSpPr>
          <p:cNvPr id="3" name="Rectangle 2"/>
          <p:cNvSpPr/>
          <p:nvPr/>
        </p:nvSpPr>
        <p:spPr>
          <a:xfrm>
            <a:off x="640080" y="1435608"/>
            <a:ext cx="2194560" cy="45720"/>
          </a:xfrm>
          <a:prstGeom prst="rect">
            <a:avLst/>
          </a:prstGeom>
          <a:solidFill>
            <a:srgbClr val="1F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458445" y="1554480"/>
          <a:ext cx="9274804" cy="4754879"/>
        </p:xfrm>
        <a:graphic>
          <a:graphicData uri="http://schemas.openxmlformats.org/drawingml/2006/table">
            <a:tbl>
              <a:tblPr firstRow="1" bandRow="1">
                <a:tableStyleId>{5C22544A-7EE6-4342-B048-85BDC9FD1C3A}</a:tableStyleId>
              </a:tblPr>
              <a:tblGrid>
                <a:gridCol w="2318701"/>
                <a:gridCol w="2318701"/>
                <a:gridCol w="2318701"/>
                <a:gridCol w="2318701"/>
              </a:tblGrid>
              <a:tr h="950975">
                <a:tc>
                  <a:txBody>
                    <a:bodyPr wrap="square"/>
                    <a:lstStyle/>
                    <a:p>
                      <a:r>
                        <a:rPr sz="1400" b="1" i="0">
                          <a:solidFill>
                            <a:srgbClr val="FFFFFF"/>
                          </a:solidFill>
                          <a:latin typeface="Daytona Condensed Light"/>
                        </a:rPr>
                        <a:t>Quater</a:t>
                      </a:r>
                    </a:p>
                  </a:txBody>
                  <a:tcPr marL="73152" marR="73152" marT="27432" marB="27432">
                    <a:solidFill>
                      <a:srgbClr val="0B4F4A"/>
                    </a:solidFill>
                  </a:tcPr>
                </a:tc>
                <a:tc>
                  <a:txBody>
                    <a:bodyPr wrap="square"/>
                    <a:lstStyle/>
                    <a:p>
                      <a:r>
                        <a:rPr sz="1400" b="1" i="0">
                          <a:solidFill>
                            <a:srgbClr val="FFFFFF"/>
                          </a:solidFill>
                          <a:latin typeface="Daytona Condensed Light"/>
                        </a:rPr>
                        <a:t>Revenue</a:t>
                      </a:r>
                    </a:p>
                  </a:txBody>
                  <a:tcPr marL="73152" marR="73152" marT="27432" marB="27432">
                    <a:solidFill>
                      <a:srgbClr val="0B4F4A"/>
                    </a:solidFill>
                  </a:tcPr>
                </a:tc>
                <a:tc>
                  <a:txBody>
                    <a:bodyPr wrap="square"/>
                    <a:lstStyle/>
                    <a:p>
                      <a:r>
                        <a:rPr sz="1400" b="1" i="0">
                          <a:solidFill>
                            <a:srgbClr val="FFFFFF"/>
                          </a:solidFill>
                          <a:latin typeface="Daytona Condensed Light"/>
                        </a:rPr>
                        <a:t>Expenses</a:t>
                      </a:r>
                    </a:p>
                  </a:txBody>
                  <a:tcPr marL="73152" marR="73152" marT="27432" marB="27432">
                    <a:solidFill>
                      <a:srgbClr val="0B4F4A"/>
                    </a:solidFill>
                  </a:tcPr>
                </a:tc>
                <a:tc>
                  <a:txBody>
                    <a:bodyPr wrap="square"/>
                    <a:lstStyle/>
                    <a:p>
                      <a:r>
                        <a:rPr sz="1400" b="1" i="0">
                          <a:solidFill>
                            <a:srgbClr val="FFFFFF"/>
                          </a:solidFill>
                          <a:latin typeface="Daytona Condensed Light"/>
                        </a:rPr>
                        <a:t>Net profit</a:t>
                      </a:r>
                    </a:p>
                  </a:txBody>
                  <a:tcPr marL="73152" marR="73152" marT="27432" marB="27432">
                    <a:solidFill>
                      <a:srgbClr val="0B4F4A"/>
                    </a:solidFill>
                  </a:tcPr>
                </a:tc>
              </a:tr>
              <a:tr h="950975">
                <a:tc>
                  <a:txBody>
                    <a:bodyPr wrap="square"/>
                    <a:lstStyle/>
                    <a:p>
                      <a:r>
                        <a:rPr sz="1400" b="0" i="0">
                          <a:solidFill>
                            <a:srgbClr val="333333"/>
                          </a:solidFill>
                          <a:latin typeface="Daytona Condensed Light"/>
                        </a:rPr>
                        <a:t>Q1</a:t>
                      </a:r>
                    </a:p>
                  </a:txBody>
                  <a:tcPr marL="73152" marR="73152" marT="27432" marB="27432">
                    <a:solidFill>
                      <a:srgbClr val="FFFFFF"/>
                    </a:solidFill>
                  </a:tcPr>
                </a:tc>
                <a:tc>
                  <a:txBody>
                    <a:bodyPr wrap="square"/>
                    <a:lstStyle/>
                    <a:p>
                      <a:r>
                        <a:rPr sz="1400" b="0" i="0">
                          <a:solidFill>
                            <a:srgbClr val="333333"/>
                          </a:solidFill>
                          <a:latin typeface="Daytona Condensed Light"/>
                        </a:rPr>
                        <a:t>$200,000</a:t>
                      </a:r>
                    </a:p>
                  </a:txBody>
                  <a:tcPr marL="73152" marR="73152" marT="27432" marB="27432">
                    <a:solidFill>
                      <a:srgbClr val="FFFFFF"/>
                    </a:solidFill>
                  </a:tcPr>
                </a:tc>
                <a:tc>
                  <a:txBody>
                    <a:bodyPr wrap="square"/>
                    <a:lstStyle/>
                    <a:p>
                      <a:r>
                        <a:rPr sz="1400" b="0" i="0">
                          <a:solidFill>
                            <a:srgbClr val="333333"/>
                          </a:solidFill>
                          <a:latin typeface="Daytona Condensed Light"/>
                        </a:rPr>
                        <a:t>$150,000</a:t>
                      </a:r>
                    </a:p>
                  </a:txBody>
                  <a:tcPr marL="73152" marR="73152" marT="27432" marB="27432">
                    <a:solidFill>
                      <a:srgbClr val="FFFFFF"/>
                    </a:solidFill>
                  </a:tcPr>
                </a:tc>
                <a:tc>
                  <a:txBody>
                    <a:bodyPr wrap="square"/>
                    <a:lstStyle/>
                    <a:p>
                      <a:r>
                        <a:rPr sz="1400" b="0" i="0">
                          <a:solidFill>
                            <a:srgbClr val="333333"/>
                          </a:solidFill>
                          <a:latin typeface="Daytona Condensed Light"/>
                        </a:rPr>
                        <a:t>$50,000</a:t>
                      </a:r>
                    </a:p>
                  </a:txBody>
                  <a:tcPr marL="73152" marR="73152" marT="27432" marB="27432">
                    <a:solidFill>
                      <a:srgbClr val="FFFFFF"/>
                    </a:solidFill>
                  </a:tcPr>
                </a:tc>
              </a:tr>
              <a:tr h="950975">
                <a:tc>
                  <a:txBody>
                    <a:bodyPr wrap="square"/>
                    <a:lstStyle/>
                    <a:p>
                      <a:r>
                        <a:rPr sz="1400" b="0" i="0">
                          <a:solidFill>
                            <a:srgbClr val="333333"/>
                          </a:solidFill>
                          <a:latin typeface="Daytona Condensed Light"/>
                        </a:rPr>
                        <a:t>Q2</a:t>
                      </a:r>
                    </a:p>
                  </a:txBody>
                  <a:tcPr marL="73152" marR="73152" marT="27432" marB="27432">
                    <a:solidFill>
                      <a:srgbClr val="E9F5F3"/>
                    </a:solidFill>
                  </a:tcPr>
                </a:tc>
                <a:tc>
                  <a:txBody>
                    <a:bodyPr wrap="square"/>
                    <a:lstStyle/>
                    <a:p>
                      <a:r>
                        <a:rPr sz="1400" b="0" i="0">
                          <a:solidFill>
                            <a:srgbClr val="333333"/>
                          </a:solidFill>
                          <a:latin typeface="Daytona Condensed Light"/>
                        </a:rPr>
                        <a:t>$200,000</a:t>
                      </a:r>
                    </a:p>
                  </a:txBody>
                  <a:tcPr marL="73152" marR="73152" marT="27432" marB="27432">
                    <a:solidFill>
                      <a:srgbClr val="E9F5F3"/>
                    </a:solidFill>
                  </a:tcPr>
                </a:tc>
                <a:tc>
                  <a:txBody>
                    <a:bodyPr wrap="square"/>
                    <a:lstStyle/>
                    <a:p>
                      <a:r>
                        <a:rPr sz="1400" b="0" i="0">
                          <a:solidFill>
                            <a:srgbClr val="333333"/>
                          </a:solidFill>
                          <a:latin typeface="Daytona Condensed Light"/>
                        </a:rPr>
                        <a:t>$150,000</a:t>
                      </a:r>
                    </a:p>
                  </a:txBody>
                  <a:tcPr marL="73152" marR="73152" marT="27432" marB="27432">
                    <a:solidFill>
                      <a:srgbClr val="E9F5F3"/>
                    </a:solidFill>
                  </a:tcPr>
                </a:tc>
                <a:tc>
                  <a:txBody>
                    <a:bodyPr wrap="square"/>
                    <a:lstStyle/>
                    <a:p>
                      <a:r>
                        <a:rPr sz="1400" b="0" i="0">
                          <a:solidFill>
                            <a:srgbClr val="333333"/>
                          </a:solidFill>
                          <a:latin typeface="Daytona Condensed Light"/>
                        </a:rPr>
                        <a:t>$50,000</a:t>
                      </a:r>
                    </a:p>
                  </a:txBody>
                  <a:tcPr marL="73152" marR="73152" marT="27432" marB="27432">
                    <a:solidFill>
                      <a:srgbClr val="E9F5F3"/>
                    </a:solidFill>
                  </a:tcPr>
                </a:tc>
              </a:tr>
              <a:tr h="950975">
                <a:tc>
                  <a:txBody>
                    <a:bodyPr wrap="square"/>
                    <a:lstStyle/>
                    <a:p>
                      <a:r>
                        <a:rPr sz="1400" b="0" i="0">
                          <a:solidFill>
                            <a:srgbClr val="333333"/>
                          </a:solidFill>
                          <a:latin typeface="Daytona Condensed Light"/>
                        </a:rPr>
                        <a:t>Q3</a:t>
                      </a:r>
                    </a:p>
                  </a:txBody>
                  <a:tcPr marL="73152" marR="73152" marT="27432" marB="27432">
                    <a:solidFill>
                      <a:srgbClr val="FFFFFF"/>
                    </a:solidFill>
                  </a:tcPr>
                </a:tc>
                <a:tc>
                  <a:txBody>
                    <a:bodyPr wrap="square"/>
                    <a:lstStyle/>
                    <a:p>
                      <a:r>
                        <a:rPr sz="1400" b="0" i="0">
                          <a:solidFill>
                            <a:srgbClr val="333333"/>
                          </a:solidFill>
                          <a:latin typeface="Daytona Condensed Light"/>
                        </a:rPr>
                        <a:t>$200,000</a:t>
                      </a:r>
                    </a:p>
                  </a:txBody>
                  <a:tcPr marL="73152" marR="73152" marT="27432" marB="27432">
                    <a:solidFill>
                      <a:srgbClr val="FFFFFF"/>
                    </a:solidFill>
                  </a:tcPr>
                </a:tc>
                <a:tc>
                  <a:txBody>
                    <a:bodyPr wrap="square"/>
                    <a:lstStyle/>
                    <a:p>
                      <a:r>
                        <a:rPr sz="1400" b="0" i="0">
                          <a:solidFill>
                            <a:srgbClr val="333333"/>
                          </a:solidFill>
                          <a:latin typeface="Daytona Condensed Light"/>
                        </a:rPr>
                        <a:t>$150,000</a:t>
                      </a:r>
                    </a:p>
                  </a:txBody>
                  <a:tcPr marL="73152" marR="73152" marT="27432" marB="27432">
                    <a:solidFill>
                      <a:srgbClr val="FFFFFF"/>
                    </a:solidFill>
                  </a:tcPr>
                </a:tc>
                <a:tc>
                  <a:txBody>
                    <a:bodyPr wrap="square"/>
                    <a:lstStyle/>
                    <a:p>
                      <a:r>
                        <a:rPr sz="1400" b="0" i="0">
                          <a:solidFill>
                            <a:srgbClr val="333333"/>
                          </a:solidFill>
                          <a:latin typeface="Daytona Condensed Light"/>
                        </a:rPr>
                        <a:t>$50,000</a:t>
                      </a:r>
                    </a:p>
                  </a:txBody>
                  <a:tcPr marL="73152" marR="73152" marT="27432" marB="27432">
                    <a:solidFill>
                      <a:srgbClr val="FFFFFF"/>
                    </a:solidFill>
                  </a:tcPr>
                </a:tc>
              </a:tr>
              <a:tr h="950979">
                <a:tc>
                  <a:txBody>
                    <a:bodyPr wrap="square"/>
                    <a:lstStyle/>
                    <a:p>
                      <a:r>
                        <a:rPr sz="1400" b="0" i="0">
                          <a:solidFill>
                            <a:srgbClr val="333333"/>
                          </a:solidFill>
                          <a:latin typeface="Daytona Condensed Light"/>
                        </a:rPr>
                        <a:t>Q4</a:t>
                      </a:r>
                    </a:p>
                  </a:txBody>
                  <a:tcPr marL="73152" marR="73152" marT="27432" marB="27432">
                    <a:solidFill>
                      <a:srgbClr val="E9F5F3"/>
                    </a:solidFill>
                  </a:tcPr>
                </a:tc>
                <a:tc>
                  <a:txBody>
                    <a:bodyPr wrap="square"/>
                    <a:lstStyle/>
                    <a:p>
                      <a:r>
                        <a:rPr sz="1400" b="0" i="0">
                          <a:solidFill>
                            <a:srgbClr val="333333"/>
                          </a:solidFill>
                          <a:latin typeface="Daytona Condensed Light"/>
                        </a:rPr>
                        <a:t>$200,000</a:t>
                      </a:r>
                    </a:p>
                  </a:txBody>
                  <a:tcPr marL="73152" marR="73152" marT="27432" marB="27432">
                    <a:solidFill>
                      <a:srgbClr val="E9F5F3"/>
                    </a:solidFill>
                  </a:tcPr>
                </a:tc>
                <a:tc>
                  <a:txBody>
                    <a:bodyPr wrap="square"/>
                    <a:lstStyle/>
                    <a:p>
                      <a:r>
                        <a:rPr sz="1400" b="0" i="0">
                          <a:solidFill>
                            <a:srgbClr val="333333"/>
                          </a:solidFill>
                          <a:latin typeface="Daytona Condensed Light"/>
                        </a:rPr>
                        <a:t>$150,000</a:t>
                      </a:r>
                    </a:p>
                  </a:txBody>
                  <a:tcPr marL="73152" marR="73152" marT="27432" marB="27432">
                    <a:solidFill>
                      <a:srgbClr val="E9F5F3"/>
                    </a:solidFill>
                  </a:tcPr>
                </a:tc>
                <a:tc>
                  <a:txBody>
                    <a:bodyPr wrap="square"/>
                    <a:lstStyle/>
                    <a:p>
                      <a:r>
                        <a:rPr sz="1400" b="0" i="0">
                          <a:solidFill>
                            <a:srgbClr val="333333"/>
                          </a:solidFill>
                          <a:latin typeface="Daytona Condensed Light"/>
                        </a:rPr>
                        <a:t>$50,000</a:t>
                      </a:r>
                    </a:p>
                  </a:txBody>
                  <a:tcPr marL="73152" marR="73152" marT="27432" marB="27432">
                    <a:solidFill>
                      <a:srgbClr val="E9F5F3"/>
                    </a:solidFill>
                  </a:tcPr>
                </a:tc>
              </a:tr>
            </a:tbl>
          </a:graphicData>
        </a:graphic>
      </p:graphicFrame>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0B4F4A"/>
                </a:solidFill>
                <a:latin typeface="Posterama"/>
              </a:rPr>
              <a:t>Summary</a:t>
            </a:r>
          </a:p>
        </p:txBody>
      </p:sp>
      <p:sp>
        <p:nvSpPr>
          <p:cNvPr id="3" name="Rectangle 2"/>
          <p:cNvSpPr/>
          <p:nvPr/>
        </p:nvSpPr>
        <p:spPr>
          <a:xfrm>
            <a:off x="640080" y="1435608"/>
            <a:ext cx="2194560" cy="45720"/>
          </a:xfrm>
          <a:prstGeom prst="rect">
            <a:avLst/>
          </a:prstGeom>
          <a:solidFill>
            <a:srgbClr val="1F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E9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33333"/>
                </a:solidFill>
                <a:latin typeface="Daytona Condensed Light"/>
              </a:rPr>
              <a:t>•  With this product, Adatum Corporation is positioned for success in the dynamic market.</a:t>
            </a:r>
          </a:p>
          <a:p>
            <a:pPr>
              <a:lnSpc>
                <a:spcPct val="110000"/>
              </a:lnSpc>
              <a:spcAft>
                <a:spcPts val="600"/>
              </a:spcAft>
            </a:pPr>
            <a:r>
              <a:rPr sz="1600" b="0" i="0">
                <a:solidFill>
                  <a:srgbClr val="333333"/>
                </a:solidFill>
                <a:latin typeface="Daytona Condensed Light"/>
              </a:rPr>
              <a:t>•  With a focus on innovation, user experience, and strategic growth, we anticipate reaching new heights in the coming year.</a:t>
            </a:r>
          </a:p>
          <a:p>
            <a:pPr>
              <a:lnSpc>
                <a:spcPct val="110000"/>
              </a:lnSpc>
              <a:spcAft>
                <a:spcPts val="600"/>
              </a:spcAft>
            </a:pPr>
            <a:r>
              <a:rPr sz="1600" b="0" i="0">
                <a:solidFill>
                  <a:srgbClr val="333333"/>
                </a:solidFill>
                <a:latin typeface="Daytona Condensed Light"/>
              </a:rPr>
              <a:t>•  Our commitment to user satisfaction underscores every aspect of our operations</a:t>
            </a:r>
          </a:p>
        </p:txBody>
      </p:sp>
      <p:sp>
        <p:nvSpPr>
          <p:cNvPr id="6" name="Rectangle 5"/>
          <p:cNvSpPr/>
          <p:nvPr/>
        </p:nvSpPr>
        <p:spPr>
          <a:xfrm>
            <a:off x="6255867" y="1554480"/>
            <a:ext cx="5295747" cy="4754879"/>
          </a:xfrm>
          <a:prstGeom prst="rect">
            <a:avLst/>
          </a:prstGeom>
          <a:solidFill>
            <a:srgbClr val="E9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333333"/>
                </a:solidFill>
                <a:latin typeface="Daytona Condensed Light"/>
              </a:rPr>
              <a:t>•  Strong market positioning</a:t>
            </a:r>
          </a:p>
          <a:p>
            <a:pPr>
              <a:lnSpc>
                <a:spcPct val="110000"/>
              </a:lnSpc>
              <a:spcAft>
                <a:spcPts val="600"/>
              </a:spcAft>
            </a:pPr>
            <a:r>
              <a:rPr sz="1600" b="0" i="0">
                <a:solidFill>
                  <a:srgbClr val="333333"/>
                </a:solidFill>
                <a:latin typeface="Daytona Condensed Light"/>
              </a:rPr>
              <a:t>•  Robust growth strategy</a:t>
            </a:r>
          </a:p>
          <a:p>
            <a:pPr>
              <a:lnSpc>
                <a:spcPct val="110000"/>
              </a:lnSpc>
              <a:spcAft>
                <a:spcPts val="600"/>
              </a:spcAft>
            </a:pPr>
            <a:r>
              <a:rPr sz="1600" b="0" i="0">
                <a:solidFill>
                  <a:srgbClr val="333333"/>
                </a:solidFill>
                <a:latin typeface="Daytona Condensed Light"/>
              </a:rPr>
              <a:t>•  Innovative product development</a:t>
            </a:r>
          </a:p>
          <a:p>
            <a:pPr>
              <a:lnSpc>
                <a:spcPct val="110000"/>
              </a:lnSpc>
              <a:spcAft>
                <a:spcPts val="600"/>
              </a:spcAft>
            </a:pPr>
            <a:r>
              <a:rPr sz="1600" b="0" i="0">
                <a:solidFill>
                  <a:srgbClr val="333333"/>
                </a:solidFill>
                <a:latin typeface="Daytona Condensed Light"/>
              </a:rPr>
              <a:t>•  Commitment to user satisfaction</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7F7F7F"/>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7F7F7F"/>
                </a:solidFill>
                <a:latin typeface="Daytona Condensed Ligh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